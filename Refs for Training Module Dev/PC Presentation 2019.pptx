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5" name="Google Shape;14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50ff3cc018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50ff3cc018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g50ff3cc018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Food Drug and Cosmetic Act was passed shortly after over 100 deaths occurred from Elixir Sulfanilamide which contained diethylene glycol, a deadly chemical used in antifreeze, to dissolve sulfanilamide. During September and October 1937 this drug was responsible for the deaths of more than 100 people in 15 states. The drug and the deaths led to the passage of the 1938 Food, Drug, and Cosmetic Act, which increased FDA's authority to regulate drugs.</a:t>
            </a:r>
            <a:br>
              <a:rPr lang="en-US"/>
            </a:br>
            <a:endParaRPr/>
          </a:p>
        </p:txBody>
      </p:sp>
      <p:sp>
        <p:nvSpPr>
          <p:cNvPr id="164" name="Google Shape;16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cGMP refers to the Current Good Manufacturing Practice regulations which is the main regulatory standard for ensuring pharmaceutical quality enforced by the US Food and Drug Administration (FDA). CGMPs provide for systems that assure proper design, monitoring, and control of manufacturing processes and facilities. Accordingly, the "C" in CGMP stands for "current," requiring companies to use technologies and systems that are up-to-date in order to comply with the regulations.</a:t>
            </a:r>
            <a:endParaRPr/>
          </a:p>
        </p:txBody>
      </p:sp>
      <p:sp>
        <p:nvSpPr>
          <p:cNvPr id="171" name="Google Shape;17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7" name="Google Shape;17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Beyond regulatory obligations, a good complaint handling system gives the company an opportunity to improve the quality of products and demonstrate commitment to customer service.</a:t>
            </a:r>
            <a:endParaRPr/>
          </a:p>
        </p:txBody>
      </p:sp>
      <p:sp>
        <p:nvSpPr>
          <p:cNvPr id="178" name="Google Shape;178;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50ff3cc01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50ff3cc01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21 CFR 211.198:  Complaint Handling</a:t>
            </a:r>
            <a:endParaRPr/>
          </a:p>
        </p:txBody>
      </p:sp>
      <p:sp>
        <p:nvSpPr>
          <p:cNvPr id="185" name="Google Shape;185;g50ff3cc018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1" name="Google Shape;19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IND - Investigational New Drug</a:t>
            </a:r>
            <a:endParaRPr/>
          </a:p>
        </p:txBody>
      </p:sp>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1" lang="en-US"/>
              <a:t>Class I recall</a:t>
            </a:r>
            <a:r>
              <a:rPr lang="en-US"/>
              <a:t> is an urgent matter.  It may involve wrong product (label and contents are different products),chemical contamination/microbial contamination of injectable and sterile ophthalmologic product.</a:t>
            </a:r>
            <a:r>
              <a:rPr b="1" lang="en-US"/>
              <a:t> An example is when in 2014 Baxter mislabeled potassium chloride injection 10 mEQ/100 mL as a more concentrated 20 mEq/100 mL </a:t>
            </a:r>
            <a:r>
              <a:rPr b="1" lang="en-US"/>
              <a:t>Class II recalls:</a:t>
            </a:r>
            <a:endParaRPr b="1"/>
          </a:p>
          <a:p>
            <a:pPr indent="0" lvl="0" marL="0" rtl="0" algn="l">
              <a:spcBef>
                <a:spcPts val="0"/>
              </a:spcBef>
              <a:spcAft>
                <a:spcPts val="0"/>
              </a:spcAft>
              <a:buNone/>
            </a:pPr>
            <a:r>
              <a:rPr lang="en-US"/>
              <a:t>mislabelling (for example, wrong or missing text or figures), missing or incorrect safety information in leaflets or inserts</a:t>
            </a:r>
            <a:endParaRPr/>
          </a:p>
          <a:p>
            <a:pPr indent="0" lvl="0" marL="0" rtl="0" algn="l">
              <a:spcBef>
                <a:spcPts val="0"/>
              </a:spcBef>
              <a:spcAft>
                <a:spcPts val="0"/>
              </a:spcAft>
              <a:buNone/>
            </a:pPr>
            <a:r>
              <a:rPr lang="en-US"/>
              <a:t>microbial contamination of non-injectable, non-ophthalmic sterile product with medical consequences</a:t>
            </a:r>
            <a:endParaRPr/>
          </a:p>
          <a:p>
            <a:pPr indent="0" lvl="0" marL="0" rtl="0" algn="l">
              <a:spcBef>
                <a:spcPts val="0"/>
              </a:spcBef>
              <a:spcAft>
                <a:spcPts val="0"/>
              </a:spcAft>
              <a:buNone/>
            </a:pPr>
            <a:r>
              <a:rPr lang="en-US"/>
              <a:t>mix-up of products in containers, non-compliance with specification, such as in an assay, stability, fill or weight resulting in medical consequences. </a:t>
            </a:r>
            <a:r>
              <a:rPr b="1" lang="en-US"/>
              <a:t>An example is delivery issues with certain lots of GSK’s Ventolin HFA Inhaler </a:t>
            </a:r>
            <a:endParaRPr b="1"/>
          </a:p>
          <a:p>
            <a:pPr indent="0" lvl="0" marL="0" rtl="0" algn="l">
              <a:spcBef>
                <a:spcPts val="0"/>
              </a:spcBef>
              <a:spcAft>
                <a:spcPts val="0"/>
              </a:spcAft>
              <a:buNone/>
            </a:pPr>
            <a:r>
              <a:rPr b="1" lang="en-US"/>
              <a:t>A Class III</a:t>
            </a:r>
            <a:r>
              <a:rPr lang="en-US"/>
              <a:t> recall is a non-safety related recall. The product meets acceptable standards of safety and efficacy and the issue does not in itself present an imminent risk. However, if not rectified, the situation may present a hazard in the future. Examples include: faulty packaging, such as wrong or missing batch number or expiration date,</a:t>
            </a:r>
            <a:endParaRPr/>
          </a:p>
          <a:p>
            <a:pPr indent="0" lvl="0" marL="0" rtl="0" algn="l">
              <a:spcBef>
                <a:spcPts val="0"/>
              </a:spcBef>
              <a:spcAft>
                <a:spcPts val="0"/>
              </a:spcAft>
              <a:buNone/>
            </a:pPr>
            <a:r>
              <a:rPr lang="en-US"/>
              <a:t>faulty closure . </a:t>
            </a:r>
            <a:r>
              <a:rPr b="1" lang="en-US"/>
              <a:t>An example of a Class III recall is with the BCP Lutera which contained an outdated package inser</a:t>
            </a:r>
            <a:r>
              <a:rPr lang="en-US"/>
              <a:t>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 </a:t>
            </a:r>
            <a:endParaRPr/>
          </a:p>
          <a:p>
            <a:pPr indent="0" lvl="0" marL="0" rtl="0" algn="l">
              <a:spcBef>
                <a:spcPts val="0"/>
              </a:spcBef>
              <a:spcAft>
                <a:spcPts val="0"/>
              </a:spcAft>
              <a:buNone/>
            </a:pPr>
            <a:r>
              <a:t/>
            </a:r>
            <a:endParaRPr/>
          </a:p>
        </p:txBody>
      </p:sp>
      <p:sp>
        <p:nvSpPr>
          <p:cNvPr id="217" name="Google Shape;21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3" name="Google Shape;22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5" name="Google Shape;23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5100bbd72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9" name="Google Shape;249;g5100bbd72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5100bbd721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g5100bbd721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50ff3cc018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50ff3cc018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g50ff3cc018_0_1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6" name="Shape 26"/>
        <p:cNvGrpSpPr/>
        <p:nvPr/>
      </p:nvGrpSpPr>
      <p:grpSpPr>
        <a:xfrm>
          <a:off x="0" y="0"/>
          <a:ext cx="0" cy="0"/>
          <a:chOff x="0" y="0"/>
          <a:chExt cx="0" cy="0"/>
        </a:xfrm>
      </p:grpSpPr>
      <p:grpSp>
        <p:nvGrpSpPr>
          <p:cNvPr id="27" name="Google Shape;27;p2"/>
          <p:cNvGrpSpPr/>
          <p:nvPr/>
        </p:nvGrpSpPr>
        <p:grpSpPr>
          <a:xfrm>
            <a:off x="0" y="-8467"/>
            <a:ext cx="12192000" cy="6866467"/>
            <a:chOff x="0" y="-8467"/>
            <a:chExt cx="12192000" cy="6866467"/>
          </a:xfrm>
        </p:grpSpPr>
        <p:sp>
          <p:nvSpPr>
            <p:cNvPr id="28" name="Google Shape;28;p2"/>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69803"/>
              </a:schemeClr>
            </a:solidFill>
            <a:ln>
              <a:noFill/>
            </a:ln>
          </p:spPr>
        </p:sp>
        <p:cxnSp>
          <p:nvCxnSpPr>
            <p:cNvPr id="29" name="Google Shape;29;p2"/>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30" name="Google Shape;30;p2"/>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31" name="Google Shape;31;p2"/>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32" name="Google Shape;32;p2"/>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3" name="Google Shape;33;p2"/>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35" name="Google Shape;35;p2"/>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36" name="Google Shape;36;p2"/>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37" name="Google Shape;37;p2"/>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 name="Google Shape;38;p2"/>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40" name="Google Shape;40;p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3"/>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3"/>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46" name="Google Shape;46;p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9" name="Shape 49"/>
        <p:cNvGrpSpPr/>
        <p:nvPr/>
      </p:nvGrpSpPr>
      <p:grpSpPr>
        <a:xfrm>
          <a:off x="0" y="0"/>
          <a:ext cx="0" cy="0"/>
          <a:chOff x="0" y="0"/>
          <a:chExt cx="0" cy="0"/>
        </a:xfrm>
      </p:grpSpPr>
      <p:sp>
        <p:nvSpPr>
          <p:cNvPr id="50" name="Google Shape;50;p4"/>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4"/>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2" name="Google Shape;52;p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5"/>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8" name="Google Shape;58;p5"/>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9" name="Google Shape;59;p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6"/>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5" name="Google Shape;65;p6"/>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6"/>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7" name="Google Shape;67;p6"/>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9"/>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9"/>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83" name="Google Shape;83;p9"/>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84" name="Google Shape;84;p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7" name="Shape 87"/>
        <p:cNvGrpSpPr/>
        <p:nvPr/>
      </p:nvGrpSpPr>
      <p:grpSpPr>
        <a:xfrm>
          <a:off x="0" y="0"/>
          <a:ext cx="0" cy="0"/>
          <a:chOff x="0" y="0"/>
          <a:chExt cx="0" cy="0"/>
        </a:xfrm>
      </p:grpSpPr>
      <p:sp>
        <p:nvSpPr>
          <p:cNvPr id="88" name="Google Shape;88;p10"/>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0"/>
          <p:cNvSpPr/>
          <p:nvPr>
            <p:ph idx="2" type="pic"/>
          </p:nvPr>
        </p:nvSpPr>
        <p:spPr>
          <a:xfrm>
            <a:off x="677334" y="609600"/>
            <a:ext cx="8596668" cy="3845718"/>
          </a:xfrm>
          <a:prstGeom prst="rect">
            <a:avLst/>
          </a:prstGeom>
          <a:noFill/>
          <a:ln>
            <a:noFill/>
          </a:ln>
        </p:spPr>
        <p:txBody>
          <a:bodyPr anchorCtr="0" anchor="t" bIns="45700" lIns="91425" spcFirstLastPara="1" rIns="91425" wrap="square" tIns="45700">
            <a:noAutofit/>
          </a:bodyPr>
          <a:lstStyle>
            <a:lvl1pPr lvl="0" marR="0" rtl="0" algn="ctr">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1pPr>
            <a:lvl2pPr lvl="1"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2pPr>
            <a:lvl3pPr lvl="2"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3pPr>
            <a:lvl4pPr lvl="3"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4pPr>
            <a:lvl5pPr lvl="4"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5pPr>
            <a:lvl6pPr lvl="5"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6pPr>
            <a:lvl7pPr lvl="6"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7pPr>
            <a:lvl8pPr lvl="7"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8pPr>
            <a:lvl9pPr lvl="8" marR="0" rtl="0" algn="l">
              <a:spcBef>
                <a:spcPts val="1000"/>
              </a:spcBef>
              <a:spcAft>
                <a:spcPts val="0"/>
              </a:spcAft>
              <a:buClr>
                <a:schemeClr val="accent1"/>
              </a:buClr>
              <a:buSzPts val="1280"/>
              <a:buFont typeface="Noto Sans Symbols"/>
              <a:buNone/>
              <a:defRPr b="0" i="0" sz="1600" u="none" cap="none" strike="noStrike">
                <a:solidFill>
                  <a:srgbClr val="3F3F3F"/>
                </a:solidFill>
                <a:latin typeface="Trebuchet MS"/>
                <a:ea typeface="Trebuchet MS"/>
                <a:cs typeface="Trebuchet MS"/>
                <a:sym typeface="Trebuchet MS"/>
              </a:defRPr>
            </a:lvl9pPr>
          </a:lstStyle>
          <a:p/>
        </p:txBody>
      </p:sp>
      <p:sp>
        <p:nvSpPr>
          <p:cNvPr id="90" name="Google Shape;90;p10"/>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1" name="Google Shape;91;p1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1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3" name="Google Shape;93;p1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4" name="Shape 94"/>
        <p:cNvGrpSpPr/>
        <p:nvPr/>
      </p:nvGrpSpPr>
      <p:grpSpPr>
        <a:xfrm>
          <a:off x="0" y="0"/>
          <a:ext cx="0" cy="0"/>
          <a:chOff x="0" y="0"/>
          <a:chExt cx="0" cy="0"/>
        </a:xfrm>
      </p:grpSpPr>
      <p:sp>
        <p:nvSpPr>
          <p:cNvPr id="95" name="Google Shape;95;p11"/>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1"/>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1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1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0" name="Shape 100"/>
        <p:cNvGrpSpPr/>
        <p:nvPr/>
      </p:nvGrpSpPr>
      <p:grpSpPr>
        <a:xfrm>
          <a:off x="0" y="0"/>
          <a:ext cx="0" cy="0"/>
          <a:chOff x="0" y="0"/>
          <a:chExt cx="0" cy="0"/>
        </a:xfrm>
      </p:grpSpPr>
      <p:sp>
        <p:nvSpPr>
          <p:cNvPr id="101" name="Google Shape;101;p12"/>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2"/>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12"/>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04" name="Google Shape;104;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07" name="Google Shape;107;p12"/>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08" name="Google Shape;108;p12"/>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9" name="Shape 109"/>
        <p:cNvGrpSpPr/>
        <p:nvPr/>
      </p:nvGrpSpPr>
      <p:grpSpPr>
        <a:xfrm>
          <a:off x="0" y="0"/>
          <a:ext cx="0" cy="0"/>
          <a:chOff x="0" y="0"/>
          <a:chExt cx="0" cy="0"/>
        </a:xfrm>
      </p:grpSpPr>
      <p:sp>
        <p:nvSpPr>
          <p:cNvPr id="110" name="Google Shape;110;p13"/>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13"/>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2" name="Google Shape;112;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5" name="Shape 115"/>
        <p:cNvGrpSpPr/>
        <p:nvPr/>
      </p:nvGrpSpPr>
      <p:grpSpPr>
        <a:xfrm>
          <a:off x="0" y="0"/>
          <a:ext cx="0" cy="0"/>
          <a:chOff x="0" y="0"/>
          <a:chExt cx="0" cy="0"/>
        </a:xfrm>
      </p:grpSpPr>
      <p:sp>
        <p:nvSpPr>
          <p:cNvPr id="116" name="Google Shape;116;p14"/>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14"/>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8" name="Google Shape;118;p14"/>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19" name="Google Shape;119;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22" name="Google Shape;122;p14"/>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
        <p:nvSpPr>
          <p:cNvPr id="123" name="Google Shape;123;p14"/>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8000" u="none" cap="none" strike="noStrike">
                <a:solidFill>
                  <a:srgbClr val="9EDFF5"/>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4" name="Shape 124"/>
        <p:cNvGrpSpPr/>
        <p:nvPr/>
      </p:nvGrpSpPr>
      <p:grpSpPr>
        <a:xfrm>
          <a:off x="0" y="0"/>
          <a:ext cx="0" cy="0"/>
          <a:chOff x="0" y="0"/>
          <a:chExt cx="0" cy="0"/>
        </a:xfrm>
      </p:grpSpPr>
      <p:sp>
        <p:nvSpPr>
          <p:cNvPr id="125" name="Google Shape;125;p15"/>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15"/>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7" name="Google Shape;127;p15"/>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28" name="Google Shape;128;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9" name="Google Shape;129;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1" name="Shape 131"/>
        <p:cNvGrpSpPr/>
        <p:nvPr/>
      </p:nvGrpSpPr>
      <p:grpSpPr>
        <a:xfrm>
          <a:off x="0" y="0"/>
          <a:ext cx="0" cy="0"/>
          <a:chOff x="0" y="0"/>
          <a:chExt cx="0" cy="0"/>
        </a:xfrm>
      </p:grpSpPr>
      <p:sp>
        <p:nvSpPr>
          <p:cNvPr id="132" name="Google Shape;132;p1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16"/>
          <p:cNvSpPr txBox="1"/>
          <p:nvPr>
            <p:ph idx="1" type="body"/>
          </p:nvPr>
        </p:nvSpPr>
        <p:spPr>
          <a:xfrm rot="5400000">
            <a:off x="3035282" y="-197358"/>
            <a:ext cx="3880773" cy="8596668"/>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34" name="Google Shape;134;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7" name="Shape 137"/>
        <p:cNvGrpSpPr/>
        <p:nvPr/>
      </p:nvGrpSpPr>
      <p:grpSpPr>
        <a:xfrm>
          <a:off x="0" y="0"/>
          <a:ext cx="0" cy="0"/>
          <a:chOff x="0" y="0"/>
          <a:chExt cx="0" cy="0"/>
        </a:xfrm>
      </p:grpSpPr>
      <p:sp>
        <p:nvSpPr>
          <p:cNvPr id="138" name="Google Shape;138;p17"/>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17"/>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0" name="Google Shape;140;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69803"/>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69803"/>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5686"/>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49803"/>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69803"/>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69803"/>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www.fda.gov/Safety/Recalls/default.ht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www.fda.gov/drugs/developmentapprovalprocess/manufacturing/ucm169105.htm" TargetMode="External"/><Relationship Id="rId4" Type="http://schemas.openxmlformats.org/officeDocument/2006/relationships/hyperlink" Target="http://www.fda.gov/ForConsumers/ConsumerUpdates/ucm049070.htm" TargetMode="External"/><Relationship Id="rId5" Type="http://schemas.openxmlformats.org/officeDocument/2006/relationships/hyperlink" Target="http://www.fda.gov/safety/medwatch/howtoreport/ucm053091.htm" TargetMode="External"/><Relationship Id="rId6" Type="http://schemas.openxmlformats.org/officeDocument/2006/relationships/hyperlink" Target="http://www.fda.gov/Safety/ReportaProblem/default.htm%20Accessed%20March%2027" TargetMode="External"/><Relationship Id="rId7" Type="http://schemas.openxmlformats.org/officeDocument/2006/relationships/hyperlink" Target="https://www.fda.gov/AboutFDA/History/ProductRegulation/ucm132818.htm"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ctrTitle"/>
          </p:nvPr>
        </p:nvSpPr>
        <p:spPr>
          <a:xfrm>
            <a:off x="1507067" y="2309531"/>
            <a:ext cx="7766936" cy="1646302"/>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Clr>
                <a:srgbClr val="0000FF"/>
              </a:buClr>
              <a:buSzPts val="5400"/>
              <a:buFont typeface="Arial"/>
              <a:buNone/>
            </a:pPr>
            <a:r>
              <a:rPr b="1" lang="en-US">
                <a:solidFill>
                  <a:srgbClr val="0000FF"/>
                </a:solidFill>
                <a:latin typeface="Arial"/>
                <a:ea typeface="Arial"/>
                <a:cs typeface="Arial"/>
                <a:sym typeface="Arial"/>
              </a:rPr>
              <a:t>Product Complaints </a:t>
            </a:r>
            <a:br>
              <a:rPr lang="en-US"/>
            </a:br>
            <a:endParaRPr/>
          </a:p>
        </p:txBody>
      </p:sp>
      <p:sp>
        <p:nvSpPr>
          <p:cNvPr id="148" name="Google Shape;148;p18"/>
          <p:cNvSpPr txBox="1"/>
          <p:nvPr>
            <p:ph idx="1" type="subTitle"/>
          </p:nvPr>
        </p:nvSpPr>
        <p:spPr>
          <a:xfrm>
            <a:off x="1507066" y="4068928"/>
            <a:ext cx="7703111" cy="1347134"/>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1440"/>
              <a:buNone/>
            </a:pPr>
            <a:r>
              <a:rPr b="1" lang="en-US">
                <a:solidFill>
                  <a:schemeClr val="dk1"/>
                </a:solidFill>
              </a:rPr>
              <a:t>PHPR 630:  Drug Information and Literature Evaluation</a:t>
            </a:r>
            <a:endParaRPr/>
          </a:p>
          <a:p>
            <a:pPr indent="0" lvl="0" marL="0" rtl="0" algn="ctr">
              <a:spcBef>
                <a:spcPts val="1000"/>
              </a:spcBef>
              <a:spcAft>
                <a:spcPts val="0"/>
              </a:spcAft>
              <a:buSzPts val="1440"/>
              <a:buNone/>
            </a:pPr>
            <a:r>
              <a:rPr b="1" lang="en-US">
                <a:solidFill>
                  <a:schemeClr val="dk1"/>
                </a:solidFill>
              </a:rPr>
              <a:t>Spring 2019</a:t>
            </a:r>
            <a:endParaRPr/>
          </a:p>
          <a:p>
            <a:pPr indent="0" lvl="0" marL="0" rtl="0" algn="ctr">
              <a:spcBef>
                <a:spcPts val="1000"/>
              </a:spcBef>
              <a:spcAft>
                <a:spcPts val="0"/>
              </a:spcAft>
              <a:buSzPts val="1440"/>
              <a:buNone/>
            </a:pPr>
            <a:r>
              <a:rPr b="1" lang="en-US">
                <a:solidFill>
                  <a:schemeClr val="dk1"/>
                </a:solidFill>
              </a:rPr>
              <a:t>Nathan Nguyen, PharmD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pic>
        <p:nvPicPr>
          <p:cNvPr id="154" name="Google Shape;154;p19"/>
          <p:cNvPicPr preferRelativeResize="0"/>
          <p:nvPr/>
        </p:nvPicPr>
        <p:blipFill>
          <a:blip r:embed="rId3">
            <a:alphaModFix/>
          </a:blip>
          <a:stretch>
            <a:fillRect/>
          </a:stretch>
        </p:blipFill>
        <p:spPr>
          <a:xfrm>
            <a:off x="3614903" y="914600"/>
            <a:ext cx="3693874" cy="4803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Objectives</a:t>
            </a:r>
            <a:endParaRPr/>
          </a:p>
        </p:txBody>
      </p:sp>
      <p:sp>
        <p:nvSpPr>
          <p:cNvPr id="160" name="Google Shape;160;p20"/>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b="1" lang="en-US" sz="2800">
                <a:latin typeface="Arial"/>
                <a:ea typeface="Arial"/>
                <a:cs typeface="Arial"/>
                <a:sym typeface="Arial"/>
              </a:rPr>
              <a:t>Identify a product problem</a:t>
            </a:r>
            <a:endParaRPr/>
          </a:p>
          <a:p>
            <a:pPr indent="-342900" lvl="0" marL="342900" rtl="0" algn="l">
              <a:spcBef>
                <a:spcPts val="1000"/>
              </a:spcBef>
              <a:spcAft>
                <a:spcPts val="0"/>
              </a:spcAft>
              <a:buSzPts val="2240"/>
              <a:buChar char="►"/>
            </a:pPr>
            <a:r>
              <a:rPr b="1" lang="en-US" sz="2800">
                <a:latin typeface="Arial"/>
                <a:ea typeface="Arial"/>
                <a:cs typeface="Arial"/>
                <a:sym typeface="Arial"/>
              </a:rPr>
              <a:t>Understand the purpose and importance of product problem reporting</a:t>
            </a:r>
            <a:endParaRPr/>
          </a:p>
          <a:p>
            <a:pPr indent="-342900" lvl="0" marL="342900" rtl="0" algn="l">
              <a:spcBef>
                <a:spcPts val="1000"/>
              </a:spcBef>
              <a:spcAft>
                <a:spcPts val="0"/>
              </a:spcAft>
              <a:buSzPts val="2240"/>
              <a:buChar char="►"/>
            </a:pPr>
            <a:r>
              <a:rPr b="1" lang="en-US" sz="2800">
                <a:latin typeface="Arial"/>
                <a:ea typeface="Arial"/>
                <a:cs typeface="Arial"/>
                <a:sym typeface="Arial"/>
              </a:rPr>
              <a:t>Discuss the product problem reporting system established in the US</a:t>
            </a:r>
            <a:endParaRPr/>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Laws and Regulations</a:t>
            </a:r>
            <a:endParaRPr/>
          </a:p>
        </p:txBody>
      </p:sp>
      <p:sp>
        <p:nvSpPr>
          <p:cNvPr id="167" name="Google Shape;167;p21"/>
          <p:cNvSpPr txBox="1"/>
          <p:nvPr>
            <p:ph idx="1" type="body"/>
          </p:nvPr>
        </p:nvSpPr>
        <p:spPr>
          <a:xfrm>
            <a:off x="677325" y="2160600"/>
            <a:ext cx="9053100" cy="3880800"/>
          </a:xfrm>
          <a:prstGeom prst="rect">
            <a:avLst/>
          </a:prstGeom>
          <a:noFill/>
          <a:ln>
            <a:noFill/>
          </a:ln>
        </p:spPr>
        <p:txBody>
          <a:bodyPr anchorCtr="0" anchor="t" bIns="45700" lIns="91425" spcFirstLastPara="1" rIns="91425" wrap="square" tIns="45700">
            <a:noAutofit/>
          </a:bodyPr>
          <a:lstStyle/>
          <a:p>
            <a:pPr indent="-391160" lvl="0" marL="342900" rtl="0" algn="l">
              <a:spcBef>
                <a:spcPts val="0"/>
              </a:spcBef>
              <a:spcAft>
                <a:spcPts val="0"/>
              </a:spcAft>
              <a:buSzPts val="3000"/>
              <a:buChar char="►"/>
            </a:pPr>
            <a:r>
              <a:rPr b="1" lang="en-US" sz="3000">
                <a:latin typeface="Arial"/>
                <a:ea typeface="Arial"/>
                <a:cs typeface="Arial"/>
                <a:sym typeface="Arial"/>
              </a:rPr>
              <a:t>1938 Food, Drug, and Cosmetic Act</a:t>
            </a:r>
            <a:endParaRPr b="1" sz="3000">
              <a:latin typeface="Arial"/>
              <a:ea typeface="Arial"/>
              <a:cs typeface="Arial"/>
              <a:sym typeface="Arial"/>
            </a:endParaRPr>
          </a:p>
          <a:p>
            <a:pPr indent="-372110" lvl="1" marL="742950" rtl="0" algn="l">
              <a:spcBef>
                <a:spcPts val="0"/>
              </a:spcBef>
              <a:spcAft>
                <a:spcPts val="0"/>
              </a:spcAft>
              <a:buSzPts val="2800"/>
              <a:buFont typeface="Arial"/>
              <a:buChar char="►"/>
            </a:pPr>
            <a:r>
              <a:rPr b="1" lang="en-US" sz="2800">
                <a:latin typeface="Arial"/>
                <a:ea typeface="Arial"/>
                <a:cs typeface="Arial"/>
                <a:sym typeface="Arial"/>
              </a:rPr>
              <a:t>Ensured products were safe before sold in US</a:t>
            </a:r>
            <a:endParaRPr b="1" sz="2800">
              <a:latin typeface="Arial"/>
              <a:ea typeface="Arial"/>
              <a:cs typeface="Arial"/>
              <a:sym typeface="Arial"/>
            </a:endParaRPr>
          </a:p>
          <a:p>
            <a:pPr indent="-372110" lvl="1" marL="742950" rtl="0" algn="l">
              <a:spcBef>
                <a:spcPts val="0"/>
              </a:spcBef>
              <a:spcAft>
                <a:spcPts val="0"/>
              </a:spcAft>
              <a:buSzPts val="2800"/>
              <a:buFont typeface="Arial"/>
              <a:buChar char="►"/>
            </a:pPr>
            <a:r>
              <a:rPr b="1" lang="en-US" sz="2800">
                <a:latin typeface="Arial"/>
                <a:ea typeface="Arial"/>
                <a:cs typeface="Arial"/>
                <a:sym typeface="Arial"/>
              </a:rPr>
              <a:t>Prohibited sale of adulterated or misbranded 	products</a:t>
            </a:r>
            <a:endParaRPr/>
          </a:p>
          <a:p>
            <a:pPr indent="-279400" lvl="2" marL="1143000" rtl="0" algn="l">
              <a:spcBef>
                <a:spcPts val="1000"/>
              </a:spcBef>
              <a:spcAft>
                <a:spcPts val="0"/>
              </a:spcAft>
              <a:buSzPts val="2240"/>
              <a:buChar char="►"/>
            </a:pPr>
            <a:r>
              <a:rPr lang="en-US" sz="2800">
                <a:latin typeface="Arial"/>
                <a:ea typeface="Arial"/>
                <a:cs typeface="Arial"/>
                <a:sym typeface="Arial"/>
              </a:rPr>
              <a:t>Adulterated Products - Impure</a:t>
            </a:r>
            <a:endParaRPr/>
          </a:p>
          <a:p>
            <a:pPr indent="-279400" lvl="2" marL="1143000" rtl="0" algn="l">
              <a:spcBef>
                <a:spcPts val="1000"/>
              </a:spcBef>
              <a:spcAft>
                <a:spcPts val="0"/>
              </a:spcAft>
              <a:buSzPts val="2240"/>
              <a:buChar char="►"/>
            </a:pPr>
            <a:r>
              <a:rPr lang="en-US" sz="2800">
                <a:latin typeface="Arial"/>
                <a:ea typeface="Arial"/>
                <a:cs typeface="Arial"/>
                <a:sym typeface="Arial"/>
              </a:rPr>
              <a:t>Misbranded Products - Inappropriate/lacking labeling</a:t>
            </a:r>
            <a:endParaRPr/>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400"/>
              <a:buFont typeface="Arial"/>
              <a:buNone/>
            </a:pPr>
            <a:r>
              <a:rPr b="1" lang="en-US" sz="4400">
                <a:solidFill>
                  <a:srgbClr val="0000FF"/>
                </a:solidFill>
                <a:latin typeface="Arial"/>
                <a:ea typeface="Arial"/>
                <a:cs typeface="Arial"/>
                <a:sym typeface="Arial"/>
              </a:rPr>
              <a:t>Current Good Manufacturing Practices (cGMPs)</a:t>
            </a:r>
            <a:endParaRPr/>
          </a:p>
        </p:txBody>
      </p:sp>
      <p:sp>
        <p:nvSpPr>
          <p:cNvPr id="174" name="Google Shape;174;p22"/>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b="1" lang="en-US" sz="2800">
                <a:latin typeface="Arial"/>
                <a:ea typeface="Arial"/>
                <a:cs typeface="Arial"/>
                <a:sym typeface="Arial"/>
              </a:rPr>
              <a:t>Establish minimum requirements for the methods, facilities, or controls used in the manufacture, processing, packaging, or holding of a pharmaceutical product</a:t>
            </a:r>
            <a:endParaRPr/>
          </a:p>
          <a:p>
            <a:pPr indent="-342900" lvl="0" marL="342900" rtl="0" algn="l">
              <a:spcBef>
                <a:spcPts val="1000"/>
              </a:spcBef>
              <a:spcAft>
                <a:spcPts val="0"/>
              </a:spcAft>
              <a:buSzPts val="2240"/>
              <a:buChar char="►"/>
            </a:pPr>
            <a:r>
              <a:rPr b="1" lang="en-US" sz="2800">
                <a:latin typeface="Arial"/>
                <a:ea typeface="Arial"/>
                <a:cs typeface="Arial"/>
                <a:sym typeface="Arial"/>
              </a:rPr>
              <a:t>Ensure pharmaceutical products are safe and meet quality and purity requirements</a:t>
            </a:r>
            <a:endParaRPr/>
          </a:p>
          <a:p>
            <a:pPr indent="-251460" lvl="0" marL="342900" rtl="0" algn="l">
              <a:spcBef>
                <a:spcPts val="1000"/>
              </a:spcBef>
              <a:spcAft>
                <a:spcPts val="0"/>
              </a:spcAft>
              <a:buSzPts val="1440"/>
              <a:buNone/>
            </a:pPr>
            <a:r>
              <a:t/>
            </a:r>
            <a:endParaRPr>
              <a:latin typeface="Arial"/>
              <a:ea typeface="Arial"/>
              <a:cs typeface="Arial"/>
              <a:sym typeface="Arial"/>
            </a:endParaRPr>
          </a:p>
          <a:p>
            <a:pPr indent="-251460" lvl="0" marL="342900" rtl="0" algn="l">
              <a:spcBef>
                <a:spcPts val="1000"/>
              </a:spcBef>
              <a:spcAft>
                <a:spcPts val="0"/>
              </a:spcAft>
              <a:buSzPts val="1440"/>
              <a:buNone/>
            </a:pPr>
            <a:r>
              <a:t/>
            </a:r>
            <a:endParaRPr>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3"/>
          <p:cNvSpPr txBox="1"/>
          <p:nvPr>
            <p:ph type="title"/>
          </p:nvPr>
        </p:nvSpPr>
        <p:spPr>
          <a:xfrm>
            <a:off x="664055" y="179755"/>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400"/>
              <a:buFont typeface="Arial"/>
              <a:buNone/>
            </a:pPr>
            <a:r>
              <a:rPr b="1" lang="en-US" sz="4400">
                <a:solidFill>
                  <a:srgbClr val="0000FF"/>
                </a:solidFill>
                <a:latin typeface="Arial"/>
                <a:ea typeface="Arial"/>
                <a:cs typeface="Arial"/>
                <a:sym typeface="Arial"/>
              </a:rPr>
              <a:t>Current Good Manufacturing Practices (cGMPs)</a:t>
            </a:r>
            <a:endParaRPr/>
          </a:p>
          <a:p>
            <a:pPr indent="0" lvl="0" marL="0" rtl="0" algn="l">
              <a:spcBef>
                <a:spcPts val="0"/>
              </a:spcBef>
              <a:spcAft>
                <a:spcPts val="0"/>
              </a:spcAft>
              <a:buClr>
                <a:srgbClr val="0000FF"/>
              </a:buClr>
              <a:buSzPts val="5400"/>
              <a:buFont typeface="Arial"/>
              <a:buNone/>
            </a:pPr>
            <a:r>
              <a:t/>
            </a:r>
            <a:endParaRPr b="1" sz="5400">
              <a:solidFill>
                <a:srgbClr val="0000FF"/>
              </a:solidFill>
              <a:latin typeface="Arial"/>
              <a:ea typeface="Arial"/>
              <a:cs typeface="Arial"/>
              <a:sym typeface="Arial"/>
            </a:endParaRPr>
          </a:p>
        </p:txBody>
      </p:sp>
      <p:sp>
        <p:nvSpPr>
          <p:cNvPr id="181" name="Google Shape;181;p23"/>
          <p:cNvSpPr txBox="1"/>
          <p:nvPr>
            <p:ph idx="1" type="body"/>
          </p:nvPr>
        </p:nvSpPr>
        <p:spPr>
          <a:xfrm>
            <a:off x="562700" y="1878699"/>
            <a:ext cx="8711400" cy="4744800"/>
          </a:xfrm>
          <a:prstGeom prst="rect">
            <a:avLst/>
          </a:prstGeom>
          <a:noFill/>
          <a:ln>
            <a:noFill/>
          </a:ln>
        </p:spPr>
        <p:txBody>
          <a:bodyPr anchorCtr="0" anchor="t" bIns="45700" lIns="91425" spcFirstLastPara="1" rIns="91425" wrap="square" tIns="45700">
            <a:noAutofit/>
          </a:bodyPr>
          <a:lstStyle/>
          <a:p>
            <a:pPr indent="-342900" lvl="0" marL="342900" rtl="0" algn="l">
              <a:spcBef>
                <a:spcPts val="1000"/>
              </a:spcBef>
              <a:spcAft>
                <a:spcPts val="0"/>
              </a:spcAft>
              <a:buSzPts val="1600"/>
              <a:buChar char="►"/>
            </a:pPr>
            <a:r>
              <a:rPr b="1" lang="en-US" sz="2000">
                <a:latin typeface="Arial"/>
                <a:ea typeface="Arial"/>
                <a:cs typeface="Arial"/>
                <a:sym typeface="Arial"/>
              </a:rPr>
              <a:t>Pharmaceutical companies must comply with GMP requirements to ensure that medicinal products are consistently produced and controlled to the quality standards appropriate to their intended use</a:t>
            </a:r>
            <a:endParaRPr/>
          </a:p>
          <a:p>
            <a:pPr indent="-342900" lvl="0" marL="342900" rtl="0" algn="l">
              <a:spcBef>
                <a:spcPts val="1000"/>
              </a:spcBef>
              <a:spcAft>
                <a:spcPts val="0"/>
              </a:spcAft>
              <a:buSzPts val="1600"/>
              <a:buChar char="►"/>
            </a:pPr>
            <a:r>
              <a:rPr b="1" lang="en-US" sz="2000">
                <a:latin typeface="Arial"/>
                <a:ea typeface="Arial"/>
                <a:cs typeface="Arial"/>
                <a:sym typeface="Arial"/>
              </a:rPr>
              <a:t>Complaint handling is one of these GMP requirements</a:t>
            </a:r>
            <a:endParaRPr/>
          </a:p>
          <a:p>
            <a:pPr indent="-342900" lvl="0" marL="342900" rtl="0" algn="l">
              <a:spcBef>
                <a:spcPts val="1000"/>
              </a:spcBef>
              <a:spcAft>
                <a:spcPts val="0"/>
              </a:spcAft>
              <a:buSzPts val="1600"/>
              <a:buChar char="►"/>
            </a:pPr>
            <a:r>
              <a:rPr b="1" lang="en-US" sz="2000">
                <a:latin typeface="Arial"/>
                <a:ea typeface="Arial"/>
                <a:cs typeface="Arial"/>
                <a:sym typeface="Arial"/>
              </a:rPr>
              <a:t>The manufacturer must have processes in place to identify, assess, and document complaints.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4"/>
          <p:cNvSpPr txBox="1"/>
          <p:nvPr>
            <p:ph type="title"/>
          </p:nvPr>
        </p:nvSpPr>
        <p:spPr>
          <a:xfrm>
            <a:off x="664055" y="179755"/>
            <a:ext cx="8596800" cy="132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Product Complaints</a:t>
            </a:r>
            <a:endParaRPr/>
          </a:p>
        </p:txBody>
      </p:sp>
      <p:sp>
        <p:nvSpPr>
          <p:cNvPr id="188" name="Google Shape;188;p24"/>
          <p:cNvSpPr txBox="1"/>
          <p:nvPr>
            <p:ph idx="1" type="body"/>
          </p:nvPr>
        </p:nvSpPr>
        <p:spPr>
          <a:xfrm>
            <a:off x="562700" y="1577650"/>
            <a:ext cx="8711400" cy="50457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600"/>
              <a:buChar char="►"/>
            </a:pPr>
            <a:r>
              <a:rPr b="1" lang="en-US" sz="2000">
                <a:latin typeface="Arial"/>
                <a:ea typeface="Arial"/>
                <a:cs typeface="Arial"/>
                <a:sym typeface="Arial"/>
              </a:rPr>
              <a:t>A report expressing </a:t>
            </a:r>
            <a:r>
              <a:rPr b="1" i="1" lang="en-US" sz="2000" u="sng">
                <a:latin typeface="Arial"/>
                <a:ea typeface="Arial"/>
                <a:cs typeface="Arial"/>
                <a:sym typeface="Arial"/>
              </a:rPr>
              <a:t>dissatisfaction</a:t>
            </a:r>
            <a:r>
              <a:rPr b="1" lang="en-US" sz="2000">
                <a:latin typeface="Arial"/>
                <a:ea typeface="Arial"/>
                <a:cs typeface="Arial"/>
                <a:sym typeface="Arial"/>
              </a:rPr>
              <a:t> with the design, appearance, taste, identity, labeling, packaging, durability, safety, reliability, efficacy, or performance</a:t>
            </a:r>
            <a:endParaRPr/>
          </a:p>
          <a:p>
            <a:pPr indent="-295910" lvl="1" marL="742950" rtl="0" algn="l">
              <a:spcBef>
                <a:spcPts val="1000"/>
              </a:spcBef>
              <a:spcAft>
                <a:spcPts val="0"/>
              </a:spcAft>
              <a:buSzPts val="1600"/>
              <a:buChar char="►"/>
            </a:pPr>
            <a:r>
              <a:rPr b="1" lang="en-US" sz="2000">
                <a:latin typeface="Arial"/>
                <a:ea typeface="Arial"/>
                <a:cs typeface="Arial"/>
                <a:sym typeface="Arial"/>
              </a:rPr>
              <a:t>Examples: product discoloration, crumbling, odor, foreign particles in the container or product, leaking vial or syringe, device malfunction, empty blister pack, wrong product, strength or quantity, missing patient information leaflet or Package Insert </a:t>
            </a:r>
            <a:endParaRPr b="1" sz="2000">
              <a:latin typeface="Arial"/>
              <a:ea typeface="Arial"/>
              <a:cs typeface="Arial"/>
              <a:sym typeface="Arial"/>
            </a:endParaRPr>
          </a:p>
          <a:p>
            <a:pPr indent="0" lvl="0" marL="742950" rtl="0" algn="l">
              <a:spcBef>
                <a:spcPts val="1000"/>
              </a:spcBef>
              <a:spcAft>
                <a:spcPts val="0"/>
              </a:spcAft>
              <a:buNone/>
            </a:pPr>
            <a:r>
              <a:t/>
            </a:r>
            <a:endParaRPr b="1" sz="2000">
              <a:latin typeface="Arial"/>
              <a:ea typeface="Arial"/>
              <a:cs typeface="Arial"/>
              <a:sym typeface="Arial"/>
            </a:endParaRPr>
          </a:p>
          <a:p>
            <a:pPr indent="-378460" lvl="0" marL="342900" rtl="0" algn="l">
              <a:spcBef>
                <a:spcPts val="1000"/>
              </a:spcBef>
              <a:spcAft>
                <a:spcPts val="0"/>
              </a:spcAft>
              <a:buSzPts val="2000"/>
              <a:buFont typeface="Arial"/>
              <a:buChar char="►"/>
            </a:pPr>
            <a:r>
              <a:rPr b="1" lang="en-US" sz="2000">
                <a:latin typeface="Arial"/>
                <a:ea typeface="Arial"/>
                <a:cs typeface="Arial"/>
                <a:sym typeface="Arial"/>
              </a:rPr>
              <a:t>Device Complaints also include misuse and performance issues</a:t>
            </a:r>
            <a:endParaRPr sz="2400">
              <a:solidFill>
                <a:srgbClr val="313540"/>
              </a:solidFill>
              <a:latin typeface="Verdana"/>
              <a:ea typeface="Verdana"/>
              <a:cs typeface="Verdana"/>
              <a:sym typeface="Verdana"/>
            </a:endParaRPr>
          </a:p>
          <a:p>
            <a:pPr indent="0" lvl="0" marL="0" rtl="0" algn="l">
              <a:spcBef>
                <a:spcPts val="1000"/>
              </a:spcBef>
              <a:spcAft>
                <a:spcPts val="0"/>
              </a:spcAft>
              <a:buNone/>
            </a:pPr>
            <a:r>
              <a:t/>
            </a:r>
            <a:endParaRPr sz="2400">
              <a:solidFill>
                <a:srgbClr val="313540"/>
              </a:solidFill>
              <a:latin typeface="Verdana"/>
              <a:ea typeface="Verdana"/>
              <a:cs typeface="Verdana"/>
              <a:sym typeface="Verdana"/>
            </a:endParaRPr>
          </a:p>
          <a:p>
            <a:pPr indent="0" lvl="0" marL="342900" rtl="0" algn="l">
              <a:spcBef>
                <a:spcPts val="10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type="title"/>
          </p:nvPr>
        </p:nvSpPr>
        <p:spPr>
          <a:xfrm>
            <a:off x="623996" y="416425"/>
            <a:ext cx="8596800" cy="132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800"/>
              <a:buFont typeface="Arial"/>
              <a:buNone/>
            </a:pPr>
            <a:r>
              <a:rPr b="1" lang="en-US" sz="4800">
                <a:solidFill>
                  <a:srgbClr val="0000FF"/>
                </a:solidFill>
                <a:latin typeface="Arial"/>
                <a:ea typeface="Arial"/>
                <a:cs typeface="Arial"/>
                <a:sym typeface="Arial"/>
              </a:rPr>
              <a:t>Product Quality Problem</a:t>
            </a:r>
            <a:endParaRPr/>
          </a:p>
        </p:txBody>
      </p:sp>
      <p:sp>
        <p:nvSpPr>
          <p:cNvPr id="195" name="Google Shape;195;p25"/>
          <p:cNvSpPr txBox="1"/>
          <p:nvPr>
            <p:ph idx="1" type="body"/>
          </p:nvPr>
        </p:nvSpPr>
        <p:spPr>
          <a:xfrm>
            <a:off x="677346" y="1314571"/>
            <a:ext cx="8490000" cy="54630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920"/>
              <a:buChar char="►"/>
            </a:pPr>
            <a:r>
              <a:rPr b="1" lang="en-US" sz="2400">
                <a:latin typeface="Arial"/>
                <a:ea typeface="Arial"/>
                <a:cs typeface="Arial"/>
                <a:sym typeface="Arial"/>
              </a:rPr>
              <a:t>Product problems should be reported to the FDA when there is a concern about the quality, authenticity, performance, or safety of any medication or device</a:t>
            </a:r>
            <a:endParaRPr/>
          </a:p>
          <a:p>
            <a:pPr indent="-285750" lvl="1" marL="742950" rtl="0" algn="l">
              <a:lnSpc>
                <a:spcPct val="80000"/>
              </a:lnSpc>
              <a:spcBef>
                <a:spcPts val="1000"/>
              </a:spcBef>
              <a:spcAft>
                <a:spcPts val="0"/>
              </a:spcAft>
              <a:buSzPts val="1920"/>
              <a:buChar char="►"/>
            </a:pPr>
            <a:r>
              <a:rPr lang="en-US" sz="2400">
                <a:latin typeface="Arial"/>
                <a:ea typeface="Arial"/>
                <a:cs typeface="Arial"/>
                <a:sym typeface="Arial"/>
              </a:rPr>
              <a:t>suspect counterfeit product/tampering</a:t>
            </a:r>
            <a:endParaRPr/>
          </a:p>
          <a:p>
            <a:pPr indent="-285750" lvl="1" marL="742950" rtl="0" algn="l">
              <a:lnSpc>
                <a:spcPct val="80000"/>
              </a:lnSpc>
              <a:spcBef>
                <a:spcPts val="1000"/>
              </a:spcBef>
              <a:spcAft>
                <a:spcPts val="0"/>
              </a:spcAft>
              <a:buSzPts val="1920"/>
              <a:buChar char="►"/>
            </a:pPr>
            <a:r>
              <a:rPr lang="en-US" sz="2400">
                <a:latin typeface="Arial"/>
                <a:ea typeface="Arial"/>
                <a:cs typeface="Arial"/>
                <a:sym typeface="Arial"/>
              </a:rPr>
              <a:t>product contamination (chemical, insect, foreign material, microbial)</a:t>
            </a:r>
            <a:endParaRPr/>
          </a:p>
          <a:p>
            <a:pPr indent="-285750" lvl="1" marL="742950" rtl="0" algn="l">
              <a:lnSpc>
                <a:spcPct val="80000"/>
              </a:lnSpc>
              <a:spcBef>
                <a:spcPts val="1000"/>
              </a:spcBef>
              <a:spcAft>
                <a:spcPts val="0"/>
              </a:spcAft>
              <a:buSzPts val="1920"/>
              <a:buChar char="►"/>
            </a:pPr>
            <a:r>
              <a:rPr lang="en-US" sz="2400">
                <a:latin typeface="Arial"/>
                <a:ea typeface="Arial"/>
                <a:cs typeface="Arial"/>
                <a:sym typeface="Arial"/>
              </a:rPr>
              <a:t>defective components (physical damage, leaks, cracks,)</a:t>
            </a:r>
            <a:endParaRPr/>
          </a:p>
          <a:p>
            <a:pPr indent="-285750" lvl="1" marL="742950" rtl="0" algn="l">
              <a:lnSpc>
                <a:spcPct val="80000"/>
              </a:lnSpc>
              <a:spcBef>
                <a:spcPts val="1000"/>
              </a:spcBef>
              <a:spcAft>
                <a:spcPts val="0"/>
              </a:spcAft>
              <a:buSzPts val="1920"/>
              <a:buChar char="►"/>
            </a:pPr>
            <a:r>
              <a:rPr lang="en-US" sz="2400">
                <a:latin typeface="Arial"/>
                <a:ea typeface="Arial"/>
                <a:cs typeface="Arial"/>
                <a:sym typeface="Arial"/>
              </a:rPr>
              <a:t>poor packaging or product mix-up</a:t>
            </a:r>
            <a:endParaRPr/>
          </a:p>
          <a:p>
            <a:pPr indent="-285750" lvl="1" marL="742950" rtl="0" algn="l">
              <a:lnSpc>
                <a:spcPct val="80000"/>
              </a:lnSpc>
              <a:spcBef>
                <a:spcPts val="1000"/>
              </a:spcBef>
              <a:spcAft>
                <a:spcPts val="0"/>
              </a:spcAft>
              <a:buSzPts val="1920"/>
              <a:buChar char="►"/>
            </a:pPr>
            <a:r>
              <a:rPr lang="en-US" sz="2400">
                <a:latin typeface="Arial"/>
                <a:ea typeface="Arial"/>
                <a:cs typeface="Arial"/>
                <a:sym typeface="Arial"/>
              </a:rPr>
              <a:t>questionable stability</a:t>
            </a:r>
            <a:endParaRPr/>
          </a:p>
          <a:p>
            <a:pPr indent="-285750" lvl="1" marL="742950" rtl="0" algn="l">
              <a:lnSpc>
                <a:spcPct val="80000"/>
              </a:lnSpc>
              <a:spcBef>
                <a:spcPts val="1000"/>
              </a:spcBef>
              <a:spcAft>
                <a:spcPts val="0"/>
              </a:spcAft>
              <a:buSzPts val="1920"/>
              <a:buChar char="►"/>
            </a:pPr>
            <a:r>
              <a:rPr lang="en-US" sz="2400">
                <a:latin typeface="Arial"/>
                <a:ea typeface="Arial"/>
                <a:cs typeface="Arial"/>
                <a:sym typeface="Arial"/>
              </a:rPr>
              <a:t>device malfunctions </a:t>
            </a:r>
            <a:endParaRPr/>
          </a:p>
          <a:p>
            <a:pPr indent="-285750" lvl="1" marL="742950" rtl="0" algn="l">
              <a:lnSpc>
                <a:spcPct val="80000"/>
              </a:lnSpc>
              <a:spcBef>
                <a:spcPts val="1000"/>
              </a:spcBef>
              <a:spcAft>
                <a:spcPts val="0"/>
              </a:spcAft>
              <a:buSzPts val="1920"/>
              <a:buChar char="►"/>
            </a:pPr>
            <a:r>
              <a:rPr lang="en-US" sz="2400">
                <a:latin typeface="Arial"/>
                <a:ea typeface="Arial"/>
                <a:cs typeface="Arial"/>
                <a:sym typeface="Arial"/>
              </a:rPr>
              <a:t>labeling concerns (confusing wording, missing label)</a:t>
            </a:r>
            <a:endParaRPr/>
          </a:p>
          <a:p>
            <a:pPr indent="-285750" lvl="1" marL="742950" rtl="0" algn="l">
              <a:lnSpc>
                <a:spcPct val="80000"/>
              </a:lnSpc>
              <a:spcBef>
                <a:spcPts val="1000"/>
              </a:spcBef>
              <a:spcAft>
                <a:spcPts val="0"/>
              </a:spcAft>
              <a:buSzPts val="1920"/>
              <a:buChar char="►"/>
            </a:pPr>
            <a:r>
              <a:rPr lang="en-US" sz="2400">
                <a:latin typeface="Arial"/>
                <a:ea typeface="Arial"/>
                <a:cs typeface="Arial"/>
                <a:sym typeface="Arial"/>
              </a:rPr>
              <a:t>lack of effect</a:t>
            </a:r>
            <a:endParaRPr/>
          </a:p>
          <a:p>
            <a:pPr indent="-320040" lvl="0" marL="342900" rtl="0" algn="l">
              <a:lnSpc>
                <a:spcPct val="80000"/>
              </a:lnSpc>
              <a:spcBef>
                <a:spcPts val="1000"/>
              </a:spcBef>
              <a:spcAft>
                <a:spcPts val="0"/>
              </a:spcAft>
              <a:buSzPts val="360"/>
              <a:buNone/>
            </a:pPr>
            <a:r>
              <a:t/>
            </a:r>
            <a:endParaRPr sz="45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6"/>
          <p:cNvSpPr txBox="1"/>
          <p:nvPr>
            <p:ph type="title"/>
          </p:nvPr>
        </p:nvSpPr>
        <p:spPr>
          <a:xfrm>
            <a:off x="574431" y="609600"/>
            <a:ext cx="8699571" cy="937846"/>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Information for Report</a:t>
            </a:r>
            <a:endParaRPr/>
          </a:p>
        </p:txBody>
      </p:sp>
      <p:sp>
        <p:nvSpPr>
          <p:cNvPr id="201" name="Google Shape;201;p26"/>
          <p:cNvSpPr txBox="1"/>
          <p:nvPr>
            <p:ph idx="1" type="body"/>
          </p:nvPr>
        </p:nvSpPr>
        <p:spPr>
          <a:xfrm>
            <a:off x="574431" y="1453662"/>
            <a:ext cx="8699571" cy="520504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b="1" lang="en-US" sz="2800">
                <a:latin typeface="Arial"/>
                <a:ea typeface="Arial"/>
                <a:cs typeface="Arial"/>
                <a:sym typeface="Arial"/>
              </a:rPr>
              <a:t>Contact information</a:t>
            </a:r>
            <a:endParaRPr/>
          </a:p>
          <a:p>
            <a:pPr indent="-342900" lvl="0" marL="342900" rtl="0" algn="l">
              <a:spcBef>
                <a:spcPts val="1000"/>
              </a:spcBef>
              <a:spcAft>
                <a:spcPts val="0"/>
              </a:spcAft>
              <a:buSzPts val="2240"/>
              <a:buChar char="►"/>
            </a:pPr>
            <a:r>
              <a:rPr b="1" lang="en-US" sz="2800">
                <a:latin typeface="Arial"/>
                <a:ea typeface="Arial"/>
                <a:cs typeface="Arial"/>
                <a:sym typeface="Arial"/>
              </a:rPr>
              <a:t>Description of product issue</a:t>
            </a:r>
            <a:endParaRPr b="1" sz="2800">
              <a:latin typeface="Arial"/>
              <a:ea typeface="Arial"/>
              <a:cs typeface="Arial"/>
              <a:sym typeface="Arial"/>
            </a:endParaRPr>
          </a:p>
          <a:p>
            <a:pPr indent="-342900" lvl="0" marL="342900" rtl="0" algn="l">
              <a:spcBef>
                <a:spcPts val="1000"/>
              </a:spcBef>
              <a:spcAft>
                <a:spcPts val="0"/>
              </a:spcAft>
              <a:buSzPts val="2240"/>
              <a:buChar char="►"/>
            </a:pPr>
            <a:r>
              <a:rPr b="1" lang="en-US" sz="2800">
                <a:latin typeface="Arial"/>
                <a:ea typeface="Arial"/>
                <a:cs typeface="Arial"/>
                <a:sym typeface="Arial"/>
              </a:rPr>
              <a:t>Lot</a:t>
            </a:r>
            <a:r>
              <a:rPr lang="en-US"/>
              <a:t>/</a:t>
            </a:r>
            <a:r>
              <a:rPr b="1" lang="en-US" sz="2800">
                <a:latin typeface="Arial"/>
                <a:ea typeface="Arial"/>
                <a:cs typeface="Arial"/>
                <a:sym typeface="Arial"/>
              </a:rPr>
              <a:t>Expiration date</a:t>
            </a:r>
            <a:endParaRPr/>
          </a:p>
          <a:p>
            <a:pPr indent="-342900" lvl="0" marL="342900" rtl="0" algn="l">
              <a:spcBef>
                <a:spcPts val="1000"/>
              </a:spcBef>
              <a:spcAft>
                <a:spcPts val="0"/>
              </a:spcAft>
              <a:buSzPts val="2240"/>
              <a:buChar char="►"/>
            </a:pPr>
            <a:r>
              <a:rPr b="1" lang="en-US" sz="2800">
                <a:latin typeface="Arial"/>
                <a:ea typeface="Arial"/>
                <a:cs typeface="Arial"/>
                <a:sym typeface="Arial"/>
              </a:rPr>
              <a:t>Product</a:t>
            </a:r>
            <a:endParaRPr/>
          </a:p>
          <a:p>
            <a:pPr indent="-285750" lvl="1" marL="742950" rtl="0" algn="l">
              <a:spcBef>
                <a:spcPts val="1000"/>
              </a:spcBef>
              <a:spcAft>
                <a:spcPts val="0"/>
              </a:spcAft>
              <a:buSzPts val="2240"/>
              <a:buChar char="►"/>
            </a:pPr>
            <a:r>
              <a:rPr b="1" lang="en-US" sz="2800">
                <a:latin typeface="Arial"/>
                <a:ea typeface="Arial"/>
                <a:cs typeface="Arial"/>
                <a:sym typeface="Arial"/>
              </a:rPr>
              <a:t>Manufacturer may ask to retrieve product for investigation</a:t>
            </a:r>
            <a:endParaRPr/>
          </a:p>
          <a:p>
            <a:pPr indent="-285750" lvl="1" marL="742950" rtl="0" algn="l">
              <a:spcBef>
                <a:spcPts val="1000"/>
              </a:spcBef>
              <a:spcAft>
                <a:spcPts val="0"/>
              </a:spcAft>
              <a:buSzPts val="2240"/>
              <a:buChar char="►"/>
            </a:pPr>
            <a:r>
              <a:rPr b="1" lang="en-US" sz="2800">
                <a:latin typeface="Arial"/>
                <a:ea typeface="Arial"/>
                <a:cs typeface="Arial"/>
                <a:sym typeface="Arial"/>
              </a:rPr>
              <a:t>May also ask for photo of affected product</a:t>
            </a:r>
            <a:endParaRPr/>
          </a:p>
          <a:p>
            <a:pPr indent="-200660" lvl="0" marL="342900" rtl="0" algn="l">
              <a:spcBef>
                <a:spcPts val="1000"/>
              </a:spcBef>
              <a:spcAft>
                <a:spcPts val="0"/>
              </a:spcAft>
              <a:buSzPts val="2240"/>
              <a:buNone/>
            </a:pPr>
            <a:r>
              <a:t/>
            </a:r>
            <a:endParaRPr sz="2800">
              <a:latin typeface="Arial"/>
              <a:ea typeface="Arial"/>
              <a:cs typeface="Arial"/>
              <a:sym typeface="Arial"/>
            </a:endParaRPr>
          </a:p>
          <a:p>
            <a:pPr indent="-251460" lvl="0" marL="342900" rtl="0" algn="l">
              <a:spcBef>
                <a:spcPts val="1000"/>
              </a:spcBef>
              <a:spcAft>
                <a:spcPts val="0"/>
              </a:spcAft>
              <a:buSzPts val="144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800"/>
              <a:buFont typeface="Arial"/>
              <a:buNone/>
            </a:pPr>
            <a:r>
              <a:rPr b="1" lang="en-US" sz="4800">
                <a:solidFill>
                  <a:srgbClr val="0000FF"/>
                </a:solidFill>
                <a:latin typeface="Arial"/>
                <a:ea typeface="Arial"/>
                <a:cs typeface="Arial"/>
                <a:sym typeface="Arial"/>
              </a:rPr>
              <a:t>Product Problem Reporting</a:t>
            </a:r>
            <a:endParaRPr/>
          </a:p>
        </p:txBody>
      </p:sp>
      <p:sp>
        <p:nvSpPr>
          <p:cNvPr id="207" name="Google Shape;207;p27"/>
          <p:cNvSpPr txBox="1"/>
          <p:nvPr>
            <p:ph idx="1" type="body"/>
          </p:nvPr>
        </p:nvSpPr>
        <p:spPr>
          <a:xfrm>
            <a:off x="677334" y="1535723"/>
            <a:ext cx="8596668" cy="4505639"/>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b="1" lang="en-US" sz="2800">
                <a:latin typeface="Arial"/>
                <a:ea typeface="Arial"/>
                <a:cs typeface="Arial"/>
                <a:sym typeface="Arial"/>
              </a:rPr>
              <a:t>Mandatory Reporting</a:t>
            </a:r>
            <a:endParaRPr/>
          </a:p>
          <a:p>
            <a:pPr indent="-285750" lvl="1" marL="742950" rtl="0" algn="l">
              <a:spcBef>
                <a:spcPts val="1000"/>
              </a:spcBef>
              <a:spcAft>
                <a:spcPts val="0"/>
              </a:spcAft>
              <a:buSzPts val="2240"/>
              <a:buChar char="►"/>
            </a:pPr>
            <a:r>
              <a:rPr b="1" lang="en-US" sz="2800">
                <a:latin typeface="Arial"/>
                <a:ea typeface="Arial"/>
                <a:cs typeface="Arial"/>
                <a:sym typeface="Arial"/>
              </a:rPr>
              <a:t>p</a:t>
            </a:r>
            <a:r>
              <a:rPr b="1" lang="en-US" sz="2800">
                <a:latin typeface="Arial"/>
                <a:ea typeface="Arial"/>
                <a:cs typeface="Arial"/>
                <a:sym typeface="Arial"/>
              </a:rPr>
              <a:t>harmaceutical manufacturers, </a:t>
            </a:r>
            <a:r>
              <a:rPr lang="en-US" sz="2800">
                <a:latin typeface="Arial"/>
                <a:ea typeface="Arial"/>
                <a:cs typeface="Arial"/>
                <a:sym typeface="Arial"/>
              </a:rPr>
              <a:t>distributors, IND reporters, user facilities personnel </a:t>
            </a:r>
            <a:endParaRPr b="1" sz="2800">
              <a:latin typeface="Arial"/>
              <a:ea typeface="Arial"/>
              <a:cs typeface="Arial"/>
              <a:sym typeface="Arial"/>
            </a:endParaRPr>
          </a:p>
          <a:p>
            <a:pPr indent="-342900" lvl="0" marL="342900" rtl="0" algn="l">
              <a:spcBef>
                <a:spcPts val="1000"/>
              </a:spcBef>
              <a:spcAft>
                <a:spcPts val="0"/>
              </a:spcAft>
              <a:buSzPts val="2240"/>
              <a:buChar char="►"/>
            </a:pPr>
            <a:r>
              <a:rPr b="1" lang="en-US" sz="2800">
                <a:latin typeface="Arial"/>
                <a:ea typeface="Arial"/>
                <a:cs typeface="Arial"/>
                <a:sym typeface="Arial"/>
              </a:rPr>
              <a:t>Voluntary Reporting</a:t>
            </a:r>
            <a:endParaRPr/>
          </a:p>
          <a:p>
            <a:pPr indent="-285750" lvl="1" marL="742950" rtl="0" algn="l">
              <a:spcBef>
                <a:spcPts val="1000"/>
              </a:spcBef>
              <a:spcAft>
                <a:spcPts val="0"/>
              </a:spcAft>
              <a:buSzPts val="2240"/>
              <a:buChar char="►"/>
            </a:pPr>
            <a:r>
              <a:rPr b="1" lang="en-US" sz="2800">
                <a:latin typeface="Arial"/>
                <a:ea typeface="Arial"/>
                <a:cs typeface="Arial"/>
                <a:sym typeface="Arial"/>
              </a:rPr>
              <a:t>h</a:t>
            </a:r>
            <a:r>
              <a:rPr b="1" lang="en-US" sz="2800">
                <a:latin typeface="Arial"/>
                <a:ea typeface="Arial"/>
                <a:cs typeface="Arial"/>
                <a:sym typeface="Arial"/>
              </a:rPr>
              <a:t>ealth care professionals, consumers</a:t>
            </a:r>
            <a:endParaRPr/>
          </a:p>
          <a:p>
            <a:pPr indent="-342900" lvl="0" marL="342900" rtl="0" algn="l">
              <a:spcBef>
                <a:spcPts val="1000"/>
              </a:spcBef>
              <a:spcAft>
                <a:spcPts val="0"/>
              </a:spcAft>
              <a:buSzPts val="2240"/>
              <a:buChar char="►"/>
            </a:pPr>
            <a:r>
              <a:rPr b="1" lang="en-US" sz="2800">
                <a:latin typeface="Arial"/>
                <a:ea typeface="Arial"/>
                <a:cs typeface="Arial"/>
                <a:sym typeface="Arial"/>
              </a:rPr>
              <a:t>Utilizes the FDA MedWatch program</a:t>
            </a:r>
            <a:endParaRPr/>
          </a:p>
          <a:p>
            <a:pPr indent="-342900" lvl="0" marL="342900" rtl="0" algn="l">
              <a:spcBef>
                <a:spcPts val="1000"/>
              </a:spcBef>
              <a:spcAft>
                <a:spcPts val="0"/>
              </a:spcAft>
              <a:buSzPts val="2240"/>
              <a:buChar char="►"/>
            </a:pPr>
            <a:r>
              <a:rPr b="1" lang="en-US" sz="2800">
                <a:latin typeface="Arial"/>
                <a:ea typeface="Arial"/>
                <a:cs typeface="Arial"/>
                <a:sym typeface="Arial"/>
              </a:rPr>
              <a:t>May call manufacturer to report product complaint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txBox="1"/>
          <p:nvPr>
            <p:ph type="title"/>
          </p:nvPr>
        </p:nvSpPr>
        <p:spPr>
          <a:xfrm>
            <a:off x="589935" y="609600"/>
            <a:ext cx="9006349"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000"/>
              <a:buFont typeface="Arial"/>
              <a:buNone/>
            </a:pPr>
            <a:r>
              <a:rPr b="1" lang="en-US" sz="4000">
                <a:solidFill>
                  <a:srgbClr val="0000FF"/>
                </a:solidFill>
                <a:latin typeface="Arial"/>
                <a:ea typeface="Arial"/>
                <a:cs typeface="Arial"/>
                <a:sym typeface="Arial"/>
              </a:rPr>
              <a:t>Outcomes of Product Problem Reporting</a:t>
            </a:r>
            <a:endParaRPr/>
          </a:p>
        </p:txBody>
      </p:sp>
      <p:sp>
        <p:nvSpPr>
          <p:cNvPr id="213" name="Google Shape;213;p28"/>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560"/>
              <a:buChar char="►"/>
            </a:pPr>
            <a:r>
              <a:rPr b="1" lang="en-US" sz="3200">
                <a:latin typeface="Arial"/>
                <a:ea typeface="Arial"/>
                <a:cs typeface="Arial"/>
                <a:sym typeface="Arial"/>
              </a:rPr>
              <a:t>Labeling changes</a:t>
            </a:r>
            <a:endParaRPr/>
          </a:p>
          <a:p>
            <a:pPr indent="-342900" lvl="0" marL="342900" rtl="0" algn="l">
              <a:spcBef>
                <a:spcPts val="1000"/>
              </a:spcBef>
              <a:spcAft>
                <a:spcPts val="0"/>
              </a:spcAft>
              <a:buSzPts val="2560"/>
              <a:buChar char="►"/>
            </a:pPr>
            <a:r>
              <a:rPr b="1" lang="en-US" sz="3200">
                <a:latin typeface="Arial"/>
                <a:ea typeface="Arial"/>
                <a:cs typeface="Arial"/>
                <a:sym typeface="Arial"/>
              </a:rPr>
              <a:t>Improvement of packaging</a:t>
            </a:r>
            <a:endParaRPr/>
          </a:p>
          <a:p>
            <a:pPr indent="-342900" lvl="0" marL="342900" rtl="0" algn="l">
              <a:spcBef>
                <a:spcPts val="1000"/>
              </a:spcBef>
              <a:spcAft>
                <a:spcPts val="0"/>
              </a:spcAft>
              <a:buSzPts val="2560"/>
              <a:buChar char="►"/>
            </a:pPr>
            <a:r>
              <a:rPr b="1" lang="en-US" sz="3200">
                <a:latin typeface="Arial"/>
                <a:ea typeface="Arial"/>
                <a:cs typeface="Arial"/>
                <a:sym typeface="Arial"/>
              </a:rPr>
              <a:t>Changing name of product</a:t>
            </a:r>
            <a:endParaRPr/>
          </a:p>
          <a:p>
            <a:pPr indent="-342900" lvl="0" marL="342900" rtl="0" algn="l">
              <a:spcBef>
                <a:spcPts val="1000"/>
              </a:spcBef>
              <a:spcAft>
                <a:spcPts val="0"/>
              </a:spcAft>
              <a:buSzPts val="2560"/>
              <a:buChar char="►"/>
            </a:pPr>
            <a:r>
              <a:rPr b="1" lang="en-US" sz="3200">
                <a:latin typeface="Arial"/>
                <a:ea typeface="Arial"/>
                <a:cs typeface="Arial"/>
                <a:sym typeface="Arial"/>
              </a:rPr>
              <a:t>FDA inspection-ensuring following GMP</a:t>
            </a:r>
            <a:endParaRPr/>
          </a:p>
          <a:p>
            <a:pPr indent="-342900" lvl="0" marL="342900" rtl="0" algn="l">
              <a:spcBef>
                <a:spcPts val="1000"/>
              </a:spcBef>
              <a:spcAft>
                <a:spcPts val="0"/>
              </a:spcAft>
              <a:buSzPts val="2560"/>
              <a:buChar char="►"/>
            </a:pPr>
            <a:r>
              <a:rPr b="1" lang="en-US" sz="3200">
                <a:latin typeface="Arial"/>
                <a:ea typeface="Arial"/>
                <a:cs typeface="Arial"/>
                <a:sym typeface="Arial"/>
              </a:rPr>
              <a:t>Product recall</a:t>
            </a:r>
            <a:endParaRPr/>
          </a:p>
          <a:p>
            <a:pPr indent="-251460" lvl="0" marL="342900" rtl="0" algn="l">
              <a:spcBef>
                <a:spcPts val="1000"/>
              </a:spcBef>
              <a:spcAft>
                <a:spcPts val="0"/>
              </a:spcAft>
              <a:buSzPts val="1440"/>
              <a:buNone/>
            </a:pPr>
            <a:r>
              <a:t/>
            </a:r>
            <a:endParaRPr/>
          </a:p>
          <a:p>
            <a:pPr indent="-251460" lvl="0" marL="342900" rtl="0" algn="l">
              <a:spcBef>
                <a:spcPts val="1000"/>
              </a:spcBef>
              <a:spcAft>
                <a:spcPts val="0"/>
              </a:spcAft>
              <a:buSzPts val="144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Product Recalls	</a:t>
            </a:r>
            <a:endParaRPr/>
          </a:p>
        </p:txBody>
      </p:sp>
      <p:sp>
        <p:nvSpPr>
          <p:cNvPr id="220" name="Google Shape;220;p29"/>
          <p:cNvSpPr txBox="1"/>
          <p:nvPr>
            <p:ph idx="1" type="body"/>
          </p:nvPr>
        </p:nvSpPr>
        <p:spPr>
          <a:xfrm>
            <a:off x="677334" y="1477108"/>
            <a:ext cx="8361158" cy="514643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1776"/>
              <a:buChar char="►"/>
            </a:pPr>
            <a:r>
              <a:rPr b="1" lang="en-US" sz="2220">
                <a:latin typeface="Arial"/>
                <a:ea typeface="Arial"/>
                <a:cs typeface="Arial"/>
                <a:sym typeface="Arial"/>
              </a:rPr>
              <a:t>May be initiated by the FDA or manufacturer</a:t>
            </a:r>
            <a:endParaRPr/>
          </a:p>
          <a:p>
            <a:pPr indent="-342900" lvl="0" marL="342900" rtl="0" algn="l">
              <a:spcBef>
                <a:spcPts val="1000"/>
              </a:spcBef>
              <a:spcAft>
                <a:spcPts val="0"/>
              </a:spcAft>
              <a:buSzPts val="1776"/>
              <a:buChar char="►"/>
            </a:pPr>
            <a:r>
              <a:rPr b="1" lang="en-US" sz="2220" u="sng">
                <a:latin typeface="Arial"/>
                <a:ea typeface="Arial"/>
                <a:cs typeface="Arial"/>
                <a:sym typeface="Arial"/>
              </a:rPr>
              <a:t>Class I</a:t>
            </a:r>
            <a:endParaRPr/>
          </a:p>
          <a:p>
            <a:pPr indent="-285750" lvl="1" marL="742950" rtl="0" algn="l">
              <a:spcBef>
                <a:spcPts val="1000"/>
              </a:spcBef>
              <a:spcAft>
                <a:spcPts val="0"/>
              </a:spcAft>
              <a:buSzPts val="1776"/>
              <a:buChar char="►"/>
            </a:pPr>
            <a:r>
              <a:rPr b="1" lang="en-US" sz="2220">
                <a:latin typeface="Arial"/>
                <a:ea typeface="Arial"/>
                <a:cs typeface="Arial"/>
                <a:sym typeface="Arial"/>
              </a:rPr>
              <a:t>Dangerous or defective products that predictably could cause serious health problems or death </a:t>
            </a:r>
            <a:endParaRPr/>
          </a:p>
          <a:p>
            <a:pPr indent="-342900" lvl="0" marL="342900" rtl="0" algn="l">
              <a:spcBef>
                <a:spcPts val="1000"/>
              </a:spcBef>
              <a:spcAft>
                <a:spcPts val="0"/>
              </a:spcAft>
              <a:buSzPts val="1776"/>
              <a:buChar char="►"/>
            </a:pPr>
            <a:r>
              <a:rPr b="1" lang="en-US" sz="2220" u="sng">
                <a:latin typeface="Arial"/>
                <a:ea typeface="Arial"/>
                <a:cs typeface="Arial"/>
                <a:sym typeface="Arial"/>
              </a:rPr>
              <a:t>Class II</a:t>
            </a:r>
            <a:endParaRPr/>
          </a:p>
          <a:p>
            <a:pPr indent="-285750" lvl="1" marL="742950" rtl="0" algn="l">
              <a:spcBef>
                <a:spcPts val="1000"/>
              </a:spcBef>
              <a:spcAft>
                <a:spcPts val="0"/>
              </a:spcAft>
              <a:buSzPts val="1776"/>
              <a:buChar char="►"/>
            </a:pPr>
            <a:r>
              <a:rPr b="1" lang="en-US" sz="2220">
                <a:latin typeface="Arial"/>
                <a:ea typeface="Arial"/>
                <a:cs typeface="Arial"/>
                <a:sym typeface="Arial"/>
              </a:rPr>
              <a:t>Products that might cause a temporary health problem, or pose only a slight threat of a serious nature </a:t>
            </a:r>
            <a:endParaRPr/>
          </a:p>
          <a:p>
            <a:pPr indent="-342900" lvl="0" marL="342900" rtl="0" algn="l">
              <a:spcBef>
                <a:spcPts val="1000"/>
              </a:spcBef>
              <a:spcAft>
                <a:spcPts val="0"/>
              </a:spcAft>
              <a:buSzPts val="1776"/>
              <a:buChar char="►"/>
            </a:pPr>
            <a:r>
              <a:rPr b="1" lang="en-US" sz="2220" u="sng">
                <a:latin typeface="Arial"/>
                <a:ea typeface="Arial"/>
                <a:cs typeface="Arial"/>
                <a:sym typeface="Arial"/>
              </a:rPr>
              <a:t>Class III</a:t>
            </a:r>
            <a:endParaRPr/>
          </a:p>
          <a:p>
            <a:pPr indent="-285750" lvl="1" marL="742950" rtl="0" algn="l">
              <a:spcBef>
                <a:spcPts val="1000"/>
              </a:spcBef>
              <a:spcAft>
                <a:spcPts val="0"/>
              </a:spcAft>
              <a:buSzPts val="1776"/>
              <a:buChar char="►"/>
            </a:pPr>
            <a:r>
              <a:rPr b="1" lang="en-US" sz="2220">
                <a:latin typeface="Arial"/>
                <a:ea typeface="Arial"/>
                <a:cs typeface="Arial"/>
                <a:sym typeface="Arial"/>
              </a:rPr>
              <a:t>Products that are unlikely to cause any adverse health reaction, but violates FDA labeling or manufacturing laws </a:t>
            </a:r>
            <a:endParaRPr/>
          </a:p>
          <a:p>
            <a:pPr indent="-342900" lvl="0" marL="342900" rtl="0" algn="l">
              <a:spcBef>
                <a:spcPts val="1000"/>
              </a:spcBef>
              <a:spcAft>
                <a:spcPts val="0"/>
              </a:spcAft>
              <a:buSzPts val="1924"/>
              <a:buChar char="►"/>
            </a:pPr>
            <a:r>
              <a:rPr lang="en-US" sz="2405" u="sng">
                <a:solidFill>
                  <a:schemeClr val="hlink"/>
                </a:solidFill>
                <a:latin typeface="Arial"/>
                <a:ea typeface="Arial"/>
                <a:cs typeface="Arial"/>
                <a:sym typeface="Arial"/>
                <a:hlinkClick r:id="rId3"/>
              </a:rPr>
              <a:t>http://www.fda.gov/Safety/Recalls/default.htm</a:t>
            </a:r>
            <a:r>
              <a:rPr lang="en-US" sz="2405">
                <a:solidFill>
                  <a:srgbClr val="0000FF"/>
                </a:solidFill>
                <a:latin typeface="Arial"/>
                <a:ea typeface="Arial"/>
                <a:cs typeface="Arial"/>
                <a:sym typeface="Arial"/>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Question</a:t>
            </a:r>
            <a:endParaRPr/>
          </a:p>
        </p:txBody>
      </p:sp>
      <p:sp>
        <p:nvSpPr>
          <p:cNvPr id="226" name="Google Shape;226;p30"/>
          <p:cNvSpPr txBox="1"/>
          <p:nvPr>
            <p:ph idx="1" type="body"/>
          </p:nvPr>
        </p:nvSpPr>
        <p:spPr>
          <a:xfrm>
            <a:off x="574431" y="1582615"/>
            <a:ext cx="9015045" cy="527538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240"/>
              <a:buNone/>
            </a:pPr>
            <a:r>
              <a:rPr b="1" lang="en-US" sz="2800">
                <a:latin typeface="Arial"/>
                <a:ea typeface="Arial"/>
                <a:cs typeface="Arial"/>
                <a:sym typeface="Arial"/>
              </a:rPr>
              <a:t>Which of the following is </a:t>
            </a:r>
            <a:r>
              <a:rPr b="1" lang="en-US" sz="2800">
                <a:solidFill>
                  <a:srgbClr val="FF0000"/>
                </a:solidFill>
                <a:latin typeface="Arial"/>
                <a:ea typeface="Arial"/>
                <a:cs typeface="Arial"/>
                <a:sym typeface="Arial"/>
              </a:rPr>
              <a:t>NOT</a:t>
            </a:r>
            <a:r>
              <a:rPr b="1" lang="en-US" sz="2800">
                <a:latin typeface="Arial"/>
                <a:ea typeface="Arial"/>
                <a:cs typeface="Arial"/>
                <a:sym typeface="Arial"/>
              </a:rPr>
              <a:t> a Product Complaint?</a:t>
            </a:r>
            <a:endParaRPr/>
          </a:p>
          <a:p>
            <a:pPr indent="-342900" lvl="0" marL="342900" rtl="0" algn="l">
              <a:spcBef>
                <a:spcPts val="1000"/>
              </a:spcBef>
              <a:spcAft>
                <a:spcPts val="0"/>
              </a:spcAft>
              <a:buSzPts val="2240"/>
              <a:buAutoNum type="alphaUcPeriod"/>
            </a:pPr>
            <a:r>
              <a:rPr b="1" lang="en-US" sz="2800">
                <a:latin typeface="Arial"/>
                <a:ea typeface="Arial"/>
                <a:cs typeface="Arial"/>
                <a:sym typeface="Arial"/>
              </a:rPr>
              <a:t>Consumer states that her medication is not working</a:t>
            </a:r>
            <a:endParaRPr/>
          </a:p>
          <a:p>
            <a:pPr indent="-342900" lvl="0" marL="342900" rtl="0" algn="l">
              <a:spcBef>
                <a:spcPts val="1000"/>
              </a:spcBef>
              <a:spcAft>
                <a:spcPts val="0"/>
              </a:spcAft>
              <a:buSzPts val="2240"/>
              <a:buAutoNum type="alphaUcPeriod"/>
            </a:pPr>
            <a:r>
              <a:rPr b="1" lang="en-US" sz="2800">
                <a:latin typeface="Arial"/>
                <a:ea typeface="Arial"/>
                <a:cs typeface="Arial"/>
                <a:sym typeface="Arial"/>
              </a:rPr>
              <a:t>There are visible particles in a vial of Cytarabine Inj.</a:t>
            </a:r>
            <a:endParaRPr/>
          </a:p>
          <a:p>
            <a:pPr indent="-342900" lvl="0" marL="342900" rtl="0" algn="l">
              <a:spcBef>
                <a:spcPts val="1000"/>
              </a:spcBef>
              <a:spcAft>
                <a:spcPts val="0"/>
              </a:spcAft>
              <a:buSzPts val="2240"/>
              <a:buAutoNum type="alphaUcPeriod"/>
            </a:pPr>
            <a:r>
              <a:rPr b="1" lang="en-US" sz="2800">
                <a:latin typeface="Arial"/>
                <a:ea typeface="Arial"/>
                <a:cs typeface="Arial"/>
                <a:sym typeface="Arial"/>
              </a:rPr>
              <a:t>Pharmacist found a broken tablet in a new 100 ct bottle</a:t>
            </a:r>
            <a:endParaRPr/>
          </a:p>
          <a:p>
            <a:pPr indent="-342900" lvl="0" marL="342900" rtl="0" algn="l">
              <a:spcBef>
                <a:spcPts val="1000"/>
              </a:spcBef>
              <a:spcAft>
                <a:spcPts val="0"/>
              </a:spcAft>
              <a:buSzPts val="2240"/>
              <a:buAutoNum type="alphaUcPeriod"/>
            </a:pPr>
            <a:r>
              <a:rPr b="1" lang="en-US" sz="2800">
                <a:latin typeface="Arial"/>
                <a:ea typeface="Arial"/>
                <a:cs typeface="Arial"/>
                <a:sym typeface="Arial"/>
              </a:rPr>
              <a:t>Consumer complains that her EPIPEN is too expensive</a:t>
            </a:r>
            <a:endParaRPr/>
          </a:p>
          <a:p>
            <a:pPr indent="-200660" lvl="0" marL="342900" rtl="0" algn="l">
              <a:spcBef>
                <a:spcPts val="1000"/>
              </a:spcBef>
              <a:spcAft>
                <a:spcPts val="0"/>
              </a:spcAft>
              <a:buSzPts val="2240"/>
              <a:buNone/>
            </a:pPr>
            <a:r>
              <a:t/>
            </a:r>
            <a:endParaRPr sz="2800">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Question</a:t>
            </a:r>
            <a:endParaRPr/>
          </a:p>
        </p:txBody>
      </p:sp>
      <p:sp>
        <p:nvSpPr>
          <p:cNvPr id="232" name="Google Shape;232;p31"/>
          <p:cNvSpPr txBox="1"/>
          <p:nvPr>
            <p:ph idx="1" type="body"/>
          </p:nvPr>
        </p:nvSpPr>
        <p:spPr>
          <a:xfrm>
            <a:off x="469971" y="1512277"/>
            <a:ext cx="8781633" cy="5040923"/>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2240"/>
              <a:buNone/>
            </a:pPr>
            <a:r>
              <a:rPr b="1" lang="en-US" sz="2800">
                <a:latin typeface="Arial"/>
                <a:ea typeface="Arial"/>
                <a:cs typeface="Arial"/>
                <a:sym typeface="Arial"/>
              </a:rPr>
              <a:t>Which of the following is </a:t>
            </a:r>
            <a:r>
              <a:rPr b="1" lang="en-US" sz="2800">
                <a:solidFill>
                  <a:srgbClr val="FF0000"/>
                </a:solidFill>
                <a:latin typeface="Arial"/>
                <a:ea typeface="Arial"/>
                <a:cs typeface="Arial"/>
                <a:sym typeface="Arial"/>
              </a:rPr>
              <a:t>NOT</a:t>
            </a:r>
            <a:r>
              <a:rPr b="1" lang="en-US" sz="2800">
                <a:latin typeface="Arial"/>
                <a:ea typeface="Arial"/>
                <a:cs typeface="Arial"/>
                <a:sym typeface="Arial"/>
              </a:rPr>
              <a:t> a Product Complaint?</a:t>
            </a:r>
            <a:endParaRPr/>
          </a:p>
          <a:p>
            <a:pPr indent="-342900" lvl="0" marL="342900" rtl="0" algn="l">
              <a:spcBef>
                <a:spcPts val="1000"/>
              </a:spcBef>
              <a:spcAft>
                <a:spcPts val="0"/>
              </a:spcAft>
              <a:buSzPts val="2240"/>
              <a:buAutoNum type="alphaUcPeriod"/>
            </a:pPr>
            <a:r>
              <a:rPr b="1" lang="en-US" sz="2800">
                <a:latin typeface="Arial"/>
                <a:ea typeface="Arial"/>
                <a:cs typeface="Arial"/>
                <a:sym typeface="Arial"/>
              </a:rPr>
              <a:t>Consumer states that her medication is not working</a:t>
            </a:r>
            <a:endParaRPr/>
          </a:p>
          <a:p>
            <a:pPr indent="-342900" lvl="0" marL="342900" rtl="0" algn="l">
              <a:spcBef>
                <a:spcPts val="1000"/>
              </a:spcBef>
              <a:spcAft>
                <a:spcPts val="0"/>
              </a:spcAft>
              <a:buSzPts val="2240"/>
              <a:buAutoNum type="alphaUcPeriod"/>
            </a:pPr>
            <a:r>
              <a:rPr b="1" lang="en-US" sz="2800">
                <a:latin typeface="Arial"/>
                <a:ea typeface="Arial"/>
                <a:cs typeface="Arial"/>
                <a:sym typeface="Arial"/>
              </a:rPr>
              <a:t>There are visible particles in a vial of Cytarabine Inj.</a:t>
            </a:r>
            <a:endParaRPr/>
          </a:p>
          <a:p>
            <a:pPr indent="-342900" lvl="0" marL="342900" rtl="0" algn="l">
              <a:spcBef>
                <a:spcPts val="1000"/>
              </a:spcBef>
              <a:spcAft>
                <a:spcPts val="0"/>
              </a:spcAft>
              <a:buSzPts val="2240"/>
              <a:buAutoNum type="alphaUcPeriod"/>
            </a:pPr>
            <a:r>
              <a:rPr b="1" lang="en-US" sz="2800">
                <a:latin typeface="Arial"/>
                <a:ea typeface="Arial"/>
                <a:cs typeface="Arial"/>
                <a:sym typeface="Arial"/>
              </a:rPr>
              <a:t>Pharmacist found a broken tablet in a new 100 ct bottle</a:t>
            </a:r>
            <a:endParaRPr/>
          </a:p>
          <a:p>
            <a:pPr indent="-342900" lvl="0" marL="342900" rtl="0" algn="l">
              <a:spcBef>
                <a:spcPts val="1000"/>
              </a:spcBef>
              <a:spcAft>
                <a:spcPts val="0"/>
              </a:spcAft>
              <a:buSzPts val="2240"/>
              <a:buAutoNum type="alphaUcPeriod"/>
            </a:pPr>
            <a:r>
              <a:rPr b="1" lang="en-US" sz="2800">
                <a:solidFill>
                  <a:srgbClr val="FF0000"/>
                </a:solidFill>
                <a:latin typeface="Arial"/>
                <a:ea typeface="Arial"/>
                <a:cs typeface="Arial"/>
                <a:sym typeface="Arial"/>
              </a:rPr>
              <a:t>Consumer complains that her EPIPEN is too expensive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Question </a:t>
            </a:r>
            <a:endParaRPr/>
          </a:p>
        </p:txBody>
      </p:sp>
      <p:sp>
        <p:nvSpPr>
          <p:cNvPr id="238" name="Google Shape;238;p32"/>
          <p:cNvSpPr txBox="1"/>
          <p:nvPr>
            <p:ph idx="1" type="body"/>
          </p:nvPr>
        </p:nvSpPr>
        <p:spPr>
          <a:xfrm>
            <a:off x="281354" y="1735015"/>
            <a:ext cx="8992648" cy="4630616"/>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sz="2800">
                <a:latin typeface="Arial"/>
                <a:ea typeface="Arial"/>
                <a:cs typeface="Arial"/>
                <a:sym typeface="Arial"/>
              </a:rPr>
              <a:t>By US law, what is NOT required to be documented in the complaint file?</a:t>
            </a:r>
            <a:endParaRPr/>
          </a:p>
          <a:p>
            <a:pPr indent="0" lvl="0" marL="0" rtl="0" algn="l">
              <a:spcBef>
                <a:spcPts val="1000"/>
              </a:spcBef>
              <a:spcAft>
                <a:spcPts val="0"/>
              </a:spcAft>
              <a:buSzPts val="2240"/>
              <a:buNone/>
            </a:pPr>
            <a:r>
              <a:t/>
            </a:r>
            <a:endParaRPr sz="2800">
              <a:latin typeface="Arial"/>
              <a:ea typeface="Arial"/>
              <a:cs typeface="Arial"/>
              <a:sym typeface="Arial"/>
            </a:endParaRPr>
          </a:p>
          <a:p>
            <a:pPr indent="0" lvl="0" marL="0" rtl="0" algn="l">
              <a:spcBef>
                <a:spcPts val="1000"/>
              </a:spcBef>
              <a:spcAft>
                <a:spcPts val="0"/>
              </a:spcAft>
              <a:buSzPts val="2240"/>
              <a:buNone/>
            </a:pPr>
            <a:r>
              <a:t/>
            </a:r>
            <a:endParaRPr sz="2800"/>
          </a:p>
        </p:txBody>
      </p:sp>
      <p:sp>
        <p:nvSpPr>
          <p:cNvPr id="239" name="Google Shape;239;p32"/>
          <p:cNvSpPr/>
          <p:nvPr/>
        </p:nvSpPr>
        <p:spPr>
          <a:xfrm>
            <a:off x="677334" y="2790091"/>
            <a:ext cx="8783189" cy="1815882"/>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chemeClr val="dk1"/>
              </a:buClr>
              <a:buSzPts val="2800"/>
              <a:buFont typeface="Trebuchet MS"/>
              <a:buAutoNum type="alphaUcPeriod"/>
            </a:pPr>
            <a:r>
              <a:rPr b="0" i="0" lang="en-US" sz="2800" u="none" cap="none" strike="noStrike">
                <a:solidFill>
                  <a:schemeClr val="dk1"/>
                </a:solidFill>
                <a:latin typeface="Arial"/>
                <a:ea typeface="Arial"/>
                <a:cs typeface="Arial"/>
                <a:sym typeface="Arial"/>
              </a:rPr>
              <a:t>Reporter’s name and contact information</a:t>
            </a:r>
            <a:endParaRPr/>
          </a:p>
          <a:p>
            <a:pPr indent="-514350" lvl="0" marL="514350" marR="0" rtl="0" algn="l">
              <a:spcBef>
                <a:spcPts val="0"/>
              </a:spcBef>
              <a:spcAft>
                <a:spcPts val="0"/>
              </a:spcAft>
              <a:buClr>
                <a:schemeClr val="dk1"/>
              </a:buClr>
              <a:buSzPts val="2800"/>
              <a:buFont typeface="Trebuchet MS"/>
              <a:buAutoNum type="alphaUcPeriod"/>
            </a:pPr>
            <a:r>
              <a:rPr b="0" i="0" lang="en-US" sz="2800" u="none" cap="none" strike="noStrike">
                <a:solidFill>
                  <a:schemeClr val="dk1"/>
                </a:solidFill>
                <a:latin typeface="Arial"/>
                <a:ea typeface="Arial"/>
                <a:cs typeface="Arial"/>
                <a:sym typeface="Arial"/>
              </a:rPr>
              <a:t>Whether reporter wants refund or replacement</a:t>
            </a:r>
            <a:endParaRPr/>
          </a:p>
          <a:p>
            <a:pPr indent="-514350" lvl="0" marL="514350" marR="0" rtl="0" algn="l">
              <a:spcBef>
                <a:spcPts val="0"/>
              </a:spcBef>
              <a:spcAft>
                <a:spcPts val="0"/>
              </a:spcAft>
              <a:buClr>
                <a:schemeClr val="dk1"/>
              </a:buClr>
              <a:buSzPts val="2800"/>
              <a:buFont typeface="Trebuchet MS"/>
              <a:buAutoNum type="alphaUcPeriod"/>
            </a:pPr>
            <a:r>
              <a:rPr b="0" i="0" lang="en-US" sz="2800" u="none" cap="none" strike="noStrike">
                <a:solidFill>
                  <a:schemeClr val="dk1"/>
                </a:solidFill>
                <a:latin typeface="Arial"/>
                <a:ea typeface="Arial"/>
                <a:cs typeface="Arial"/>
                <a:sym typeface="Arial"/>
              </a:rPr>
              <a:t>Lot and Expiration Date</a:t>
            </a:r>
            <a:endParaRPr/>
          </a:p>
          <a:p>
            <a:pPr indent="-514350" lvl="0" marL="514350" marR="0" rtl="0" algn="l">
              <a:spcBef>
                <a:spcPts val="0"/>
              </a:spcBef>
              <a:spcAft>
                <a:spcPts val="0"/>
              </a:spcAft>
              <a:buClr>
                <a:schemeClr val="dk1"/>
              </a:buClr>
              <a:buSzPts val="2800"/>
              <a:buFont typeface="Trebuchet MS"/>
              <a:buAutoNum type="alphaUcPeriod"/>
            </a:pPr>
            <a:r>
              <a:rPr b="0" i="0" lang="en-US" sz="2800" u="none" cap="none" strike="noStrike">
                <a:solidFill>
                  <a:schemeClr val="dk1"/>
                </a:solidFill>
                <a:latin typeface="Arial"/>
                <a:ea typeface="Arial"/>
                <a:cs typeface="Arial"/>
                <a:sym typeface="Arial"/>
              </a:rPr>
              <a:t>Complaint description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3"/>
          <p:cNvSpPr txBox="1"/>
          <p:nvPr>
            <p:ph type="title"/>
          </p:nvPr>
        </p:nvSpPr>
        <p:spPr>
          <a:xfrm>
            <a:off x="748450" y="715108"/>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Question</a:t>
            </a:r>
            <a:r>
              <a:rPr lang="en-US" sz="5400">
                <a:solidFill>
                  <a:srgbClr val="0000FF"/>
                </a:solidFill>
                <a:latin typeface="Arial"/>
                <a:ea typeface="Arial"/>
                <a:cs typeface="Arial"/>
                <a:sym typeface="Arial"/>
              </a:rPr>
              <a:t> </a:t>
            </a:r>
            <a:endParaRPr/>
          </a:p>
        </p:txBody>
      </p:sp>
      <p:sp>
        <p:nvSpPr>
          <p:cNvPr id="245" name="Google Shape;245;p33"/>
          <p:cNvSpPr txBox="1"/>
          <p:nvPr>
            <p:ph idx="1" type="body"/>
          </p:nvPr>
        </p:nvSpPr>
        <p:spPr>
          <a:xfrm>
            <a:off x="677334" y="2160589"/>
            <a:ext cx="8596668" cy="420504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sz="2800">
                <a:latin typeface="Arial"/>
                <a:ea typeface="Arial"/>
                <a:cs typeface="Arial"/>
                <a:sym typeface="Arial"/>
              </a:rPr>
              <a:t>By US law, what is </a:t>
            </a:r>
            <a:r>
              <a:rPr lang="en-US" sz="2800">
                <a:solidFill>
                  <a:srgbClr val="FF0000"/>
                </a:solidFill>
                <a:latin typeface="Arial"/>
                <a:ea typeface="Arial"/>
                <a:cs typeface="Arial"/>
                <a:sym typeface="Arial"/>
              </a:rPr>
              <a:t>NOT</a:t>
            </a:r>
            <a:r>
              <a:rPr lang="en-US" sz="2800">
                <a:latin typeface="Arial"/>
                <a:ea typeface="Arial"/>
                <a:cs typeface="Arial"/>
                <a:sym typeface="Arial"/>
              </a:rPr>
              <a:t> required to be documented in the complaint file?</a:t>
            </a:r>
            <a:endParaRPr/>
          </a:p>
          <a:p>
            <a:pPr indent="0" lvl="0" marL="0" rtl="0" algn="l">
              <a:spcBef>
                <a:spcPts val="1000"/>
              </a:spcBef>
              <a:spcAft>
                <a:spcPts val="0"/>
              </a:spcAft>
              <a:buSzPts val="2240"/>
              <a:buNone/>
            </a:pPr>
            <a:r>
              <a:t/>
            </a:r>
            <a:endParaRPr sz="2800"/>
          </a:p>
        </p:txBody>
      </p:sp>
      <p:sp>
        <p:nvSpPr>
          <p:cNvPr id="246" name="Google Shape;246;p33"/>
          <p:cNvSpPr/>
          <p:nvPr/>
        </p:nvSpPr>
        <p:spPr>
          <a:xfrm>
            <a:off x="1019907" y="3071446"/>
            <a:ext cx="8124093" cy="1815882"/>
          </a:xfrm>
          <a:prstGeom prst="rect">
            <a:avLst/>
          </a:prstGeom>
          <a:noFill/>
          <a:ln>
            <a:noFill/>
          </a:ln>
        </p:spPr>
        <p:txBody>
          <a:bodyPr anchorCtr="0" anchor="t" bIns="45700" lIns="91425" spcFirstLastPara="1" rIns="91425" wrap="square" tIns="45700">
            <a:noAutofit/>
          </a:bodyPr>
          <a:lstStyle/>
          <a:p>
            <a:pPr indent="-514350" lvl="0" marL="514350" marR="0" rtl="0" algn="l">
              <a:spcBef>
                <a:spcPts val="0"/>
              </a:spcBef>
              <a:spcAft>
                <a:spcPts val="0"/>
              </a:spcAft>
              <a:buClr>
                <a:schemeClr val="dk1"/>
              </a:buClr>
              <a:buSzPts val="2800"/>
              <a:buFont typeface="Trebuchet MS"/>
              <a:buAutoNum type="alphaUcPeriod"/>
            </a:pPr>
            <a:r>
              <a:rPr b="0" i="0" lang="en-US" sz="2800" u="none" cap="none" strike="noStrike">
                <a:solidFill>
                  <a:schemeClr val="dk1"/>
                </a:solidFill>
                <a:latin typeface="Arial"/>
                <a:ea typeface="Arial"/>
                <a:cs typeface="Arial"/>
                <a:sym typeface="Arial"/>
              </a:rPr>
              <a:t>Reporter’s name and contact information</a:t>
            </a:r>
            <a:endParaRPr/>
          </a:p>
          <a:p>
            <a:pPr indent="-514350" lvl="0" marL="514350" marR="0" rtl="0" algn="l">
              <a:spcBef>
                <a:spcPts val="0"/>
              </a:spcBef>
              <a:spcAft>
                <a:spcPts val="0"/>
              </a:spcAft>
              <a:buClr>
                <a:srgbClr val="FF0000"/>
              </a:buClr>
              <a:buSzPts val="2800"/>
              <a:buFont typeface="Trebuchet MS"/>
              <a:buAutoNum type="alphaUcPeriod"/>
            </a:pPr>
            <a:r>
              <a:rPr b="0" i="0" lang="en-US" sz="2800" u="none" cap="none" strike="noStrike">
                <a:solidFill>
                  <a:srgbClr val="FF0000"/>
                </a:solidFill>
                <a:latin typeface="Arial"/>
                <a:ea typeface="Arial"/>
                <a:cs typeface="Arial"/>
                <a:sym typeface="Arial"/>
              </a:rPr>
              <a:t>Whether reporter wants refund or replacement</a:t>
            </a:r>
            <a:endParaRPr/>
          </a:p>
          <a:p>
            <a:pPr indent="-514350" lvl="0" marL="514350" marR="0" rtl="0" algn="l">
              <a:spcBef>
                <a:spcPts val="0"/>
              </a:spcBef>
              <a:spcAft>
                <a:spcPts val="0"/>
              </a:spcAft>
              <a:buClr>
                <a:schemeClr val="dk1"/>
              </a:buClr>
              <a:buSzPts val="2800"/>
              <a:buFont typeface="Trebuchet MS"/>
              <a:buAutoNum type="alphaUcPeriod"/>
            </a:pPr>
            <a:r>
              <a:rPr b="0" i="0" lang="en-US" sz="2800" u="none" cap="none" strike="noStrike">
                <a:solidFill>
                  <a:schemeClr val="dk1"/>
                </a:solidFill>
                <a:latin typeface="Arial"/>
                <a:ea typeface="Arial"/>
                <a:cs typeface="Arial"/>
                <a:sym typeface="Arial"/>
              </a:rPr>
              <a:t>Lot and Expiration Date</a:t>
            </a:r>
            <a:endParaRPr/>
          </a:p>
          <a:p>
            <a:pPr indent="-514350" lvl="0" marL="514350" marR="0" rtl="0" algn="l">
              <a:spcBef>
                <a:spcPts val="0"/>
              </a:spcBef>
              <a:spcAft>
                <a:spcPts val="0"/>
              </a:spcAft>
              <a:buClr>
                <a:schemeClr val="dk1"/>
              </a:buClr>
              <a:buSzPts val="2800"/>
              <a:buFont typeface="Trebuchet MS"/>
              <a:buAutoNum type="alphaUcPeriod"/>
            </a:pPr>
            <a:r>
              <a:rPr b="0" i="0" lang="en-US" sz="2800" u="none" cap="none" strike="noStrike">
                <a:solidFill>
                  <a:schemeClr val="dk1"/>
                </a:solidFill>
                <a:latin typeface="Arial"/>
                <a:ea typeface="Arial"/>
                <a:cs typeface="Arial"/>
                <a:sym typeface="Arial"/>
              </a:rPr>
              <a:t>Complaint description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34"/>
          <p:cNvSpPr txBox="1"/>
          <p:nvPr>
            <p:ph type="title"/>
          </p:nvPr>
        </p:nvSpPr>
        <p:spPr>
          <a:xfrm>
            <a:off x="748450" y="715108"/>
            <a:ext cx="8596800" cy="132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Question</a:t>
            </a:r>
            <a:r>
              <a:rPr lang="en-US" sz="5400">
                <a:solidFill>
                  <a:srgbClr val="0000FF"/>
                </a:solidFill>
                <a:latin typeface="Arial"/>
                <a:ea typeface="Arial"/>
                <a:cs typeface="Arial"/>
                <a:sym typeface="Arial"/>
              </a:rPr>
              <a:t> </a:t>
            </a:r>
            <a:endParaRPr/>
          </a:p>
        </p:txBody>
      </p:sp>
      <p:sp>
        <p:nvSpPr>
          <p:cNvPr id="252" name="Google Shape;252;p34"/>
          <p:cNvSpPr txBox="1"/>
          <p:nvPr>
            <p:ph idx="1" type="body"/>
          </p:nvPr>
        </p:nvSpPr>
        <p:spPr>
          <a:xfrm>
            <a:off x="677334" y="2160589"/>
            <a:ext cx="8596800" cy="4205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sz="2800">
                <a:latin typeface="Arial"/>
                <a:ea typeface="Arial"/>
                <a:cs typeface="Arial"/>
                <a:sym typeface="Arial"/>
              </a:rPr>
              <a:t>A caregiver has been reported of crushing Astagraf XL and administering it to the patient. What report(s) need to be completed?</a:t>
            </a:r>
            <a:endParaRPr sz="2800">
              <a:latin typeface="Arial"/>
              <a:ea typeface="Arial"/>
              <a:cs typeface="Arial"/>
              <a:sym typeface="Arial"/>
            </a:endParaRPr>
          </a:p>
          <a:p>
            <a:pPr indent="0" lvl="0" marL="342900" rtl="0" algn="l">
              <a:spcBef>
                <a:spcPts val="0"/>
              </a:spcBef>
              <a:spcAft>
                <a:spcPts val="0"/>
              </a:spcAft>
              <a:buNone/>
            </a:pPr>
            <a:r>
              <a:t/>
            </a:r>
            <a:endParaRPr sz="2800">
              <a:latin typeface="Arial"/>
              <a:ea typeface="Arial"/>
              <a:cs typeface="Arial"/>
              <a:sym typeface="Arial"/>
            </a:endParaRPr>
          </a:p>
          <a:p>
            <a:pPr indent="-406400" lvl="0" marL="457200" rtl="0" algn="l">
              <a:spcBef>
                <a:spcPts val="0"/>
              </a:spcBef>
              <a:spcAft>
                <a:spcPts val="0"/>
              </a:spcAft>
              <a:buSzPts val="2800"/>
              <a:buFont typeface="Arial"/>
              <a:buAutoNum type="alphaUcPeriod"/>
            </a:pPr>
            <a:r>
              <a:rPr lang="en-US" sz="2800">
                <a:latin typeface="Arial"/>
                <a:ea typeface="Arial"/>
                <a:cs typeface="Arial"/>
                <a:sym typeface="Arial"/>
              </a:rPr>
              <a:t>Adverse Event</a:t>
            </a:r>
            <a:endParaRPr sz="2800">
              <a:latin typeface="Arial"/>
              <a:ea typeface="Arial"/>
              <a:cs typeface="Arial"/>
              <a:sym typeface="Arial"/>
            </a:endParaRPr>
          </a:p>
          <a:p>
            <a:pPr indent="-406400" lvl="0" marL="457200" rtl="0" algn="l">
              <a:spcBef>
                <a:spcPts val="0"/>
              </a:spcBef>
              <a:spcAft>
                <a:spcPts val="0"/>
              </a:spcAft>
              <a:buSzPts val="2800"/>
              <a:buFont typeface="Arial"/>
              <a:buAutoNum type="alphaUcPeriod"/>
            </a:pPr>
            <a:r>
              <a:rPr lang="en-US" sz="2800">
                <a:latin typeface="Arial"/>
                <a:ea typeface="Arial"/>
                <a:cs typeface="Arial"/>
                <a:sym typeface="Arial"/>
              </a:rPr>
              <a:t>Product Complaint</a:t>
            </a:r>
            <a:endParaRPr sz="2800">
              <a:latin typeface="Arial"/>
              <a:ea typeface="Arial"/>
              <a:cs typeface="Arial"/>
              <a:sym typeface="Arial"/>
            </a:endParaRPr>
          </a:p>
          <a:p>
            <a:pPr indent="-406400" lvl="0" marL="457200" rtl="0" algn="l">
              <a:spcBef>
                <a:spcPts val="0"/>
              </a:spcBef>
              <a:spcAft>
                <a:spcPts val="0"/>
              </a:spcAft>
              <a:buSzPts val="2800"/>
              <a:buFont typeface="Arial"/>
              <a:buAutoNum type="alphaUcPeriod"/>
            </a:pPr>
            <a:r>
              <a:rPr lang="en-US" sz="2800">
                <a:latin typeface="Arial"/>
                <a:ea typeface="Arial"/>
                <a:cs typeface="Arial"/>
                <a:sym typeface="Arial"/>
              </a:rPr>
              <a:t>All of the Above</a:t>
            </a:r>
            <a:endParaRPr sz="2800">
              <a:latin typeface="Arial"/>
              <a:ea typeface="Arial"/>
              <a:cs typeface="Arial"/>
              <a:sym typeface="Arial"/>
            </a:endParaRPr>
          </a:p>
          <a:p>
            <a:pPr indent="-406400" lvl="0" marL="457200" rtl="0" algn="l">
              <a:spcBef>
                <a:spcPts val="0"/>
              </a:spcBef>
              <a:spcAft>
                <a:spcPts val="0"/>
              </a:spcAft>
              <a:buSzPts val="2800"/>
              <a:buFont typeface="Arial"/>
              <a:buAutoNum type="alphaUcPeriod"/>
            </a:pPr>
            <a:r>
              <a:rPr lang="en-US" sz="2800">
                <a:latin typeface="Arial"/>
                <a:ea typeface="Arial"/>
                <a:cs typeface="Arial"/>
                <a:sym typeface="Arial"/>
              </a:rPr>
              <a:t>None of the Above</a:t>
            </a:r>
            <a:endParaRPr sz="280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5"/>
          <p:cNvSpPr txBox="1"/>
          <p:nvPr>
            <p:ph type="title"/>
          </p:nvPr>
        </p:nvSpPr>
        <p:spPr>
          <a:xfrm>
            <a:off x="748450" y="715108"/>
            <a:ext cx="8596800" cy="1320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5400"/>
              <a:buFont typeface="Arial"/>
              <a:buNone/>
            </a:pPr>
            <a:r>
              <a:rPr b="1" lang="en-US" sz="5400">
                <a:solidFill>
                  <a:srgbClr val="0000FF"/>
                </a:solidFill>
                <a:latin typeface="Arial"/>
                <a:ea typeface="Arial"/>
                <a:cs typeface="Arial"/>
                <a:sym typeface="Arial"/>
              </a:rPr>
              <a:t>Question</a:t>
            </a:r>
            <a:r>
              <a:rPr lang="en-US" sz="5400">
                <a:solidFill>
                  <a:srgbClr val="0000FF"/>
                </a:solidFill>
                <a:latin typeface="Arial"/>
                <a:ea typeface="Arial"/>
                <a:cs typeface="Arial"/>
                <a:sym typeface="Arial"/>
              </a:rPr>
              <a:t> </a:t>
            </a:r>
            <a:endParaRPr/>
          </a:p>
        </p:txBody>
      </p:sp>
      <p:sp>
        <p:nvSpPr>
          <p:cNvPr id="258" name="Google Shape;258;p35"/>
          <p:cNvSpPr txBox="1"/>
          <p:nvPr>
            <p:ph idx="1" type="body"/>
          </p:nvPr>
        </p:nvSpPr>
        <p:spPr>
          <a:xfrm>
            <a:off x="677334" y="2160589"/>
            <a:ext cx="8596800" cy="4205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SzPts val="2240"/>
              <a:buChar char="►"/>
            </a:pPr>
            <a:r>
              <a:rPr lang="en-US" sz="2800">
                <a:latin typeface="Arial"/>
                <a:ea typeface="Arial"/>
                <a:cs typeface="Arial"/>
                <a:sym typeface="Arial"/>
              </a:rPr>
              <a:t>A caregiver has been reported of crushing Astagraf XL and administering it to the patient. What report(s) need to be completed?</a:t>
            </a:r>
            <a:endParaRPr sz="2800">
              <a:latin typeface="Arial"/>
              <a:ea typeface="Arial"/>
              <a:cs typeface="Arial"/>
              <a:sym typeface="Arial"/>
            </a:endParaRPr>
          </a:p>
          <a:p>
            <a:pPr indent="0" lvl="0" marL="342900" rtl="0" algn="l">
              <a:spcBef>
                <a:spcPts val="0"/>
              </a:spcBef>
              <a:spcAft>
                <a:spcPts val="0"/>
              </a:spcAft>
              <a:buNone/>
            </a:pPr>
            <a:r>
              <a:t/>
            </a:r>
            <a:endParaRPr sz="2800">
              <a:latin typeface="Arial"/>
              <a:ea typeface="Arial"/>
              <a:cs typeface="Arial"/>
              <a:sym typeface="Arial"/>
            </a:endParaRPr>
          </a:p>
          <a:p>
            <a:pPr indent="-406400" lvl="0" marL="457200" rtl="0" algn="l">
              <a:spcBef>
                <a:spcPts val="0"/>
              </a:spcBef>
              <a:spcAft>
                <a:spcPts val="0"/>
              </a:spcAft>
              <a:buClr>
                <a:srgbClr val="FF0000"/>
              </a:buClr>
              <a:buSzPts val="2800"/>
              <a:buFont typeface="Arial"/>
              <a:buAutoNum type="alphaUcPeriod"/>
            </a:pPr>
            <a:r>
              <a:rPr lang="en-US" sz="2800">
                <a:solidFill>
                  <a:srgbClr val="FF0000"/>
                </a:solidFill>
                <a:latin typeface="Arial"/>
                <a:ea typeface="Arial"/>
                <a:cs typeface="Arial"/>
                <a:sym typeface="Arial"/>
              </a:rPr>
              <a:t>Adverse Event</a:t>
            </a:r>
            <a:endParaRPr sz="2800">
              <a:solidFill>
                <a:srgbClr val="FF0000"/>
              </a:solidFill>
              <a:latin typeface="Arial"/>
              <a:ea typeface="Arial"/>
              <a:cs typeface="Arial"/>
              <a:sym typeface="Arial"/>
            </a:endParaRPr>
          </a:p>
          <a:p>
            <a:pPr indent="-406400" lvl="0" marL="457200" rtl="0" algn="l">
              <a:spcBef>
                <a:spcPts val="0"/>
              </a:spcBef>
              <a:spcAft>
                <a:spcPts val="0"/>
              </a:spcAft>
              <a:buSzPts val="2800"/>
              <a:buFont typeface="Arial"/>
              <a:buAutoNum type="alphaUcPeriod"/>
            </a:pPr>
            <a:r>
              <a:rPr lang="en-US" sz="2800">
                <a:latin typeface="Arial"/>
                <a:ea typeface="Arial"/>
                <a:cs typeface="Arial"/>
                <a:sym typeface="Arial"/>
              </a:rPr>
              <a:t>Product Complaint</a:t>
            </a:r>
            <a:endParaRPr sz="2800">
              <a:latin typeface="Arial"/>
              <a:ea typeface="Arial"/>
              <a:cs typeface="Arial"/>
              <a:sym typeface="Arial"/>
            </a:endParaRPr>
          </a:p>
          <a:p>
            <a:pPr indent="-406400" lvl="0" marL="457200" rtl="0" algn="l">
              <a:spcBef>
                <a:spcPts val="0"/>
              </a:spcBef>
              <a:spcAft>
                <a:spcPts val="0"/>
              </a:spcAft>
              <a:buSzPts val="2800"/>
              <a:buFont typeface="Arial"/>
              <a:buAutoNum type="alphaUcPeriod"/>
            </a:pPr>
            <a:r>
              <a:rPr lang="en-US" sz="2800">
                <a:latin typeface="Arial"/>
                <a:ea typeface="Arial"/>
                <a:cs typeface="Arial"/>
                <a:sym typeface="Arial"/>
              </a:rPr>
              <a:t>All of the Above</a:t>
            </a:r>
            <a:endParaRPr sz="2800">
              <a:latin typeface="Arial"/>
              <a:ea typeface="Arial"/>
              <a:cs typeface="Arial"/>
              <a:sym typeface="Arial"/>
            </a:endParaRPr>
          </a:p>
          <a:p>
            <a:pPr indent="-406400" lvl="0" marL="457200" rtl="0" algn="l">
              <a:spcBef>
                <a:spcPts val="0"/>
              </a:spcBef>
              <a:spcAft>
                <a:spcPts val="0"/>
              </a:spcAft>
              <a:buSzPts val="2800"/>
              <a:buFont typeface="Arial"/>
              <a:buAutoNum type="alphaUcPeriod"/>
            </a:pPr>
            <a:r>
              <a:rPr lang="en-US" sz="2800">
                <a:latin typeface="Arial"/>
                <a:ea typeface="Arial"/>
                <a:cs typeface="Arial"/>
                <a:sym typeface="Arial"/>
              </a:rPr>
              <a:t>None of the Above</a:t>
            </a:r>
            <a:endParaRPr sz="28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6"/>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0000FF"/>
              </a:buClr>
              <a:buSzPts val="4400"/>
              <a:buFont typeface="Arial"/>
              <a:buNone/>
            </a:pPr>
            <a:r>
              <a:rPr b="1" lang="en-US" sz="4400">
                <a:solidFill>
                  <a:srgbClr val="0000FF"/>
                </a:solidFill>
                <a:latin typeface="Arial"/>
                <a:ea typeface="Arial"/>
                <a:cs typeface="Arial"/>
                <a:sym typeface="Arial"/>
              </a:rPr>
              <a:t>References</a:t>
            </a:r>
            <a:endParaRPr/>
          </a:p>
        </p:txBody>
      </p:sp>
      <p:sp>
        <p:nvSpPr>
          <p:cNvPr id="264" name="Google Shape;264;p36"/>
          <p:cNvSpPr txBox="1"/>
          <p:nvPr>
            <p:ph idx="1" type="body"/>
          </p:nvPr>
        </p:nvSpPr>
        <p:spPr>
          <a:xfrm>
            <a:off x="677334" y="1479885"/>
            <a:ext cx="8596668" cy="456147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400">
              <a:latin typeface="Arial"/>
              <a:ea typeface="Arial"/>
              <a:cs typeface="Arial"/>
              <a:sym typeface="Arial"/>
            </a:endParaRPr>
          </a:p>
          <a:p>
            <a:pPr indent="-340360" lvl="0" marL="342900" rtl="0" algn="l">
              <a:spcBef>
                <a:spcPts val="0"/>
              </a:spcBef>
              <a:spcAft>
                <a:spcPts val="0"/>
              </a:spcAft>
              <a:buSzPts val="1400"/>
              <a:buFont typeface="Arial"/>
              <a:buChar char="►"/>
            </a:pPr>
            <a:r>
              <a:rPr lang="en-US" sz="1400">
                <a:latin typeface="Arial"/>
                <a:ea typeface="Arial"/>
                <a:cs typeface="Arial"/>
                <a:sym typeface="Arial"/>
              </a:rPr>
              <a:t>CURRENT GOOD MANUFACTURING PRACTICE FOR FINISHED PHARMACEUTICALS, 21 C.F.R. § 211 (2018).</a:t>
            </a:r>
            <a:endParaRPr sz="1400">
              <a:latin typeface="Arial"/>
              <a:ea typeface="Arial"/>
              <a:cs typeface="Arial"/>
              <a:sym typeface="Arial"/>
            </a:endParaRPr>
          </a:p>
          <a:p>
            <a:pPr indent="-340360" lvl="0" marL="342900" marR="274320" rtl="0" algn="l">
              <a:spcBef>
                <a:spcPts val="1000"/>
              </a:spcBef>
              <a:spcAft>
                <a:spcPts val="0"/>
              </a:spcAft>
              <a:buSzPts val="1400"/>
              <a:buFont typeface="Arial"/>
              <a:buChar char="►"/>
            </a:pPr>
            <a:r>
              <a:rPr lang="en-US" sz="1400">
                <a:latin typeface="Arial"/>
                <a:ea typeface="Arial"/>
                <a:cs typeface="Arial"/>
                <a:sym typeface="Arial"/>
              </a:rPr>
              <a:t>Food and Drug Administration: Facts About the Current Good Manufacturing Practices (CGMPs). </a:t>
            </a:r>
            <a:r>
              <a:rPr lang="en-US" sz="1400" u="sng">
                <a:solidFill>
                  <a:schemeClr val="hlink"/>
                </a:solidFill>
                <a:latin typeface="Arial"/>
                <a:ea typeface="Arial"/>
                <a:cs typeface="Arial"/>
                <a:sym typeface="Arial"/>
                <a:hlinkClick r:id="rId3"/>
              </a:rPr>
              <a:t>https://www.fda.gov/drugs/developmentapprovalprocess/manufacturing/ucm169105.htm</a:t>
            </a:r>
            <a:r>
              <a:rPr lang="en-US" sz="1400">
                <a:latin typeface="Arial"/>
                <a:ea typeface="Arial"/>
                <a:cs typeface="Arial"/>
                <a:sym typeface="Arial"/>
              </a:rPr>
              <a:t>. Accessed April 10, 2019.</a:t>
            </a:r>
            <a:endParaRPr sz="1400">
              <a:latin typeface="Arial"/>
              <a:ea typeface="Arial"/>
              <a:cs typeface="Arial"/>
              <a:sym typeface="Arial"/>
            </a:endParaRPr>
          </a:p>
          <a:p>
            <a:pPr indent="-340360" lvl="0" marL="342900" rtl="0" algn="l">
              <a:spcBef>
                <a:spcPts val="1000"/>
              </a:spcBef>
              <a:spcAft>
                <a:spcPts val="0"/>
              </a:spcAft>
              <a:buSzPts val="1400"/>
              <a:buFont typeface="Arial"/>
              <a:buChar char="►"/>
            </a:pPr>
            <a:r>
              <a:rPr lang="en-US" sz="1400">
                <a:latin typeface="Arial"/>
                <a:ea typeface="Arial"/>
                <a:cs typeface="Arial"/>
                <a:sym typeface="Arial"/>
              </a:rPr>
              <a:t>Food and Drug Administration: FDA 101: Product Recalls. </a:t>
            </a:r>
            <a:r>
              <a:rPr lang="en-US" sz="1400" u="sng">
                <a:solidFill>
                  <a:schemeClr val="hlink"/>
                </a:solidFill>
                <a:latin typeface="Arial"/>
                <a:ea typeface="Arial"/>
                <a:cs typeface="Arial"/>
                <a:sym typeface="Arial"/>
                <a:hlinkClick r:id="rId4"/>
              </a:rPr>
              <a:t>http://www.fda.gov/ForConsumers/ConsumerUpdates/ucm049070.htm</a:t>
            </a:r>
            <a:r>
              <a:rPr lang="en-US" sz="1400">
                <a:latin typeface="Arial"/>
                <a:ea typeface="Arial"/>
                <a:cs typeface="Arial"/>
                <a:sym typeface="Arial"/>
              </a:rPr>
              <a:t>. Accessed April 10, 2019. </a:t>
            </a:r>
            <a:endParaRPr sz="1400">
              <a:latin typeface="Arial"/>
              <a:ea typeface="Arial"/>
              <a:cs typeface="Arial"/>
              <a:sym typeface="Arial"/>
            </a:endParaRPr>
          </a:p>
          <a:p>
            <a:pPr indent="-342900" lvl="0" marL="342900" rtl="0" algn="l">
              <a:spcBef>
                <a:spcPts val="0"/>
              </a:spcBef>
              <a:spcAft>
                <a:spcPts val="0"/>
              </a:spcAft>
              <a:buSzPts val="1120"/>
              <a:buChar char="►"/>
            </a:pPr>
            <a:r>
              <a:rPr lang="en-US" sz="1400">
                <a:latin typeface="Arial"/>
                <a:ea typeface="Arial"/>
                <a:cs typeface="Arial"/>
                <a:sym typeface="Arial"/>
              </a:rPr>
              <a:t>Food and Drug Administration: Product Problems. </a:t>
            </a:r>
            <a:r>
              <a:rPr lang="en-US" sz="1400" u="sng">
                <a:solidFill>
                  <a:schemeClr val="hlink"/>
                </a:solidFill>
                <a:latin typeface="Arial"/>
                <a:ea typeface="Arial"/>
                <a:cs typeface="Arial"/>
                <a:sym typeface="Arial"/>
                <a:hlinkClick r:id="rId5"/>
              </a:rPr>
              <a:t>http://www.fda.gov/safety/medwatch/howtoreport/ucm053091.htm</a:t>
            </a:r>
            <a:r>
              <a:rPr lang="en-US" sz="1400">
                <a:latin typeface="Arial"/>
                <a:ea typeface="Arial"/>
                <a:cs typeface="Arial"/>
                <a:sym typeface="Arial"/>
              </a:rPr>
              <a:t>. Accessed April 10, 2019. </a:t>
            </a:r>
            <a:endParaRPr/>
          </a:p>
          <a:p>
            <a:pPr indent="-342900" lvl="0" marL="342900" rtl="0" algn="l">
              <a:spcBef>
                <a:spcPts val="1000"/>
              </a:spcBef>
              <a:spcAft>
                <a:spcPts val="0"/>
              </a:spcAft>
              <a:buSzPts val="1120"/>
              <a:buChar char="►"/>
            </a:pPr>
            <a:r>
              <a:rPr lang="en-US" sz="1400">
                <a:latin typeface="Arial"/>
                <a:ea typeface="Arial"/>
                <a:cs typeface="Arial"/>
                <a:sym typeface="Arial"/>
              </a:rPr>
              <a:t>Food and Drug Administration: Report a Problem. </a:t>
            </a:r>
            <a:r>
              <a:rPr lang="en-US" sz="1400" u="sng">
                <a:solidFill>
                  <a:schemeClr val="hlink"/>
                </a:solidFill>
                <a:latin typeface="Arial"/>
                <a:ea typeface="Arial"/>
                <a:cs typeface="Arial"/>
                <a:sym typeface="Arial"/>
                <a:hlinkClick r:id="rId6"/>
              </a:rPr>
              <a:t>http://www.fda.gov/Safety/ReportaProblem/default.htm. </a:t>
            </a:r>
            <a:r>
              <a:rPr lang="en-US" sz="1400">
                <a:latin typeface="Arial"/>
                <a:ea typeface="Arial"/>
                <a:cs typeface="Arial"/>
                <a:sym typeface="Arial"/>
              </a:rPr>
              <a:t>Accessed April 10, 2019. </a:t>
            </a:r>
            <a:endParaRPr sz="1400">
              <a:latin typeface="Arial"/>
              <a:ea typeface="Arial"/>
              <a:cs typeface="Arial"/>
              <a:sym typeface="Arial"/>
            </a:endParaRPr>
          </a:p>
          <a:p>
            <a:pPr indent="-360680" lvl="0" marL="342900" rtl="0" algn="l">
              <a:spcBef>
                <a:spcPts val="1000"/>
              </a:spcBef>
              <a:spcAft>
                <a:spcPts val="0"/>
              </a:spcAft>
              <a:buSzPts val="1400"/>
              <a:buFont typeface="Arial"/>
              <a:buChar char="►"/>
            </a:pPr>
            <a:r>
              <a:rPr lang="en-US" sz="1400">
                <a:latin typeface="Arial"/>
                <a:ea typeface="Arial"/>
                <a:cs typeface="Arial"/>
                <a:sym typeface="Arial"/>
              </a:rPr>
              <a:t>Food and Drug Administration: The 1938 Food, Drug, and Cosmetic Act. </a:t>
            </a:r>
            <a:r>
              <a:rPr lang="en-US" sz="1400" u="sng">
                <a:solidFill>
                  <a:schemeClr val="hlink"/>
                </a:solidFill>
                <a:latin typeface="Arial"/>
                <a:ea typeface="Arial"/>
                <a:cs typeface="Arial"/>
                <a:sym typeface="Arial"/>
                <a:hlinkClick r:id="rId7"/>
              </a:rPr>
              <a:t>https://www.fda.gov/AboutFDA/History/ProductRegulation/ucm132818.htm</a:t>
            </a:r>
            <a:r>
              <a:rPr lang="en-US" sz="1400">
                <a:latin typeface="Arial"/>
                <a:ea typeface="Arial"/>
                <a:cs typeface="Arial"/>
                <a:sym typeface="Arial"/>
              </a:rPr>
              <a:t>. Accessed April 10, 2019.</a:t>
            </a:r>
            <a:endParaRPr sz="1400">
              <a:latin typeface="Arial"/>
              <a:ea typeface="Arial"/>
              <a:cs typeface="Arial"/>
              <a:sym typeface="Arial"/>
            </a:endParaRPr>
          </a:p>
          <a:p>
            <a:pPr indent="0" lvl="0" marL="0" rtl="0" algn="l">
              <a:spcBef>
                <a:spcPts val="10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