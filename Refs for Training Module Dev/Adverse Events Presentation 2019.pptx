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ayback.archive-it.org/7993/20161022203734/http:/www.fda.gov/Drugs/DrugSafety/ucm373040.htm#safety"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u="none" strike="noStrike">
                <a:solidFill>
                  <a:schemeClr val="dk1"/>
                </a:solidFill>
                <a:latin typeface="Calibri"/>
                <a:ea typeface="Calibri"/>
                <a:cs typeface="Calibri"/>
                <a:sym typeface="Calibri"/>
              </a:rPr>
              <a:t> </a:t>
            </a:r>
            <a:r>
              <a:rPr lang="en-US" sz="1200">
                <a:solidFill>
                  <a:schemeClr val="dk1"/>
                </a:solidFill>
                <a:latin typeface="Calibri"/>
                <a:ea typeface="Calibri"/>
                <a:cs typeface="Calibri"/>
                <a:sym typeface="Calibri"/>
              </a:rPr>
              <a:t>Phase IV trials involve the safety surveillance (pharmacovigilance) and ongoing technical support of a drug after it receives FDA approval. Phase IV studies may be required by regulatory authorities or may be undertaken by the sponsoring company for competitive or other reasons. Safety surveillance is designed to detect any rare or long-term adverse effects in a much larger patient population over a longer time-period than during Phase I‒III studies.</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Center for Drug Evaluation and Research is a division of the FDA that regulates over-the-counter and prescription drugs, including biological therapeutics and generic drugs. Once a drug has been approved for 18-months or has been used by 10,000 patients, whichever is later, a summary analysis of the adverse drug reaction reports received for the drug is included, including identification of any new risks not previously identified, potential new risks, or known risks reported in an unusual number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FDA asked Ariad, the manufacturer of the leukemia drug Iclusig (ponatinib) to suspend marketing and sales that was issued on </a:t>
            </a:r>
            <a:r>
              <a:rPr lang="en-US" u="sng">
                <a:solidFill>
                  <a:schemeClr val="hlink"/>
                </a:solidFill>
                <a:hlinkClick r:id="rId2"/>
              </a:rPr>
              <a:t>October 31, 2013</a:t>
            </a:r>
            <a:r>
              <a:rPr lang="en-US"/>
              <a:t> and required  several new safety measures for Iclusig (ponatinib) to address the risk of life-threatening blood clots and severe narrowing of blood vessels. Marketing was resumed once the appropriate updates were made to the prescribing information</a:t>
            </a:r>
            <a:endParaRPr/>
          </a:p>
        </p:txBody>
      </p:sp>
      <p:sp>
        <p:nvSpPr>
          <p:cNvPr id="166" name="Google Shape;16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the Medical Information call center, approximately 15% of our inquiries are adverse events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Malone PM et al. Drug information: a guide for pharmacists.</a:t>
            </a:r>
            <a:endParaRPr/>
          </a:p>
        </p:txBody>
      </p:sp>
      <p:sp>
        <p:nvSpPr>
          <p:cNvPr id="173" name="Google Shape;17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2" marL="914400" rtl="0" algn="l">
              <a:spcBef>
                <a:spcPts val="0"/>
              </a:spcBef>
              <a:spcAft>
                <a:spcPts val="0"/>
              </a:spcAft>
              <a:buNone/>
            </a:pPr>
            <a:r>
              <a:rPr b="1" lang="en-US"/>
              <a:t>Life-threatening: </a:t>
            </a:r>
            <a:r>
              <a:rPr lang="en-US"/>
              <a:t>Report if suspected that the patient was at substantial risk of dying at the time of the adverse event, or use or continued use of the device or other medical product might have resulted in the death of the patient.</a:t>
            </a:r>
            <a:endParaRPr/>
          </a:p>
          <a:p>
            <a:pPr indent="0" lvl="2" marL="914400" rtl="0" algn="l">
              <a:spcBef>
                <a:spcPts val="0"/>
              </a:spcBef>
              <a:spcAft>
                <a:spcPts val="0"/>
              </a:spcAft>
              <a:buNone/>
            </a:pPr>
            <a:r>
              <a:rPr b="1" lang="en-US"/>
              <a:t>Hospitalization (initial or prolonged)</a:t>
            </a:r>
            <a:endParaRPr/>
          </a:p>
          <a:p>
            <a:pPr indent="0" lvl="2" marL="914400" rtl="0" algn="l">
              <a:spcBef>
                <a:spcPts val="0"/>
              </a:spcBef>
              <a:spcAft>
                <a:spcPts val="0"/>
              </a:spcAft>
              <a:buNone/>
            </a:pPr>
            <a:r>
              <a:rPr b="1" lang="en-US"/>
              <a:t>Disability or Permanent Damage: </a:t>
            </a:r>
            <a:r>
              <a:rPr lang="en-US"/>
              <a:t>adverse event resulted in a substantial disruption of a person's ability to conduct normal life functions, i.e., the adverse event resulted in a significant, persistent or permanent change, impairment, damage or disruption in the patient's body function/structure, physical activities and/or quality of life.</a:t>
            </a:r>
            <a:endParaRPr/>
          </a:p>
          <a:p>
            <a:pPr indent="0" lvl="2" marL="914400" rtl="0" algn="l">
              <a:spcBef>
                <a:spcPts val="0"/>
              </a:spcBef>
              <a:spcAft>
                <a:spcPts val="0"/>
              </a:spcAft>
              <a:buNone/>
            </a:pPr>
            <a:r>
              <a:rPr b="1" lang="en-US"/>
              <a:t>Congenital Anomaly/Birth Defect: </a:t>
            </a:r>
            <a:r>
              <a:rPr lang="en-US"/>
              <a:t>Report if you suspect that exposure to a medical product prior to conception or during pregnancy may have resulted in an adverse outcome in the child.</a:t>
            </a:r>
            <a:endParaRPr/>
          </a:p>
          <a:p>
            <a:pPr indent="0" lvl="2" marL="914400" rtl="0" algn="l">
              <a:spcBef>
                <a:spcPts val="0"/>
              </a:spcBef>
              <a:spcAft>
                <a:spcPts val="0"/>
              </a:spcAft>
              <a:buNone/>
            </a:pPr>
            <a:r>
              <a:rPr b="1" lang="en-US"/>
              <a:t>Required Intervention to Prevent Permanent Impairment or Damage (Devices): </a:t>
            </a:r>
            <a:r>
              <a:rPr lang="en-US"/>
              <a:t>that medical or surgical intervention was necessary to preclude permanent impairment of a body function, or prevent permanent damage to a body structure, either situation suspected to be due to the use of a medical product.</a:t>
            </a:r>
            <a:endParaRPr/>
          </a:p>
          <a:p>
            <a:pPr indent="0" lvl="2" marL="914400" rtl="0" algn="l">
              <a:spcBef>
                <a:spcPts val="0"/>
              </a:spcBef>
              <a:spcAft>
                <a:spcPts val="0"/>
              </a:spcAft>
              <a:buNone/>
            </a:pPr>
            <a:r>
              <a:rPr b="1" lang="en-US"/>
              <a:t>Other Serious (Important Medical Events): </a:t>
            </a:r>
            <a:r>
              <a:rPr lang="en-US"/>
              <a:t>the event may jeopardize the patient and may require medical or surgical intervention (treatment) to prevent one of the other outcomes. Examples include allergic brochospasm (a serious problem with breathing) requiring treatment in an emergency room, serious blood dyscrasias (blood disorders) or seizures/convulsions that do not result in hospitalization. The development of drug dependence or drug abuse would also be examples of important medical events</a:t>
            </a:r>
            <a:endParaRPr/>
          </a:p>
          <a:p>
            <a:pPr indent="0" lvl="0" marL="0" rtl="0" algn="l">
              <a:spcBef>
                <a:spcPts val="0"/>
              </a:spcBef>
              <a:spcAft>
                <a:spcPts val="0"/>
              </a:spcAft>
              <a:buNone/>
            </a:pPr>
            <a:r>
              <a:t/>
            </a:r>
            <a:endParaRPr/>
          </a:p>
        </p:txBody>
      </p:sp>
      <p:sp>
        <p:nvSpPr>
          <p:cNvPr id="187" name="Google Shape;18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i="1" lang="en-US" sz="1000">
                <a:solidFill>
                  <a:srgbClr val="23238E"/>
                </a:solidFill>
                <a:highlight>
                  <a:srgbClr val="F9F9F3"/>
                </a:highlight>
                <a:latin typeface="Courier New"/>
                <a:ea typeface="Courier New"/>
                <a:cs typeface="Courier New"/>
                <a:sym typeface="Courier New"/>
              </a:rPr>
              <a:t>CFR 21, vol 5</a:t>
            </a:r>
            <a:endParaRPr i="1" sz="1000">
              <a:solidFill>
                <a:srgbClr val="23238E"/>
              </a:solidFill>
              <a:highlight>
                <a:srgbClr val="F9F9F3"/>
              </a:highlight>
              <a:latin typeface="Courier New"/>
              <a:ea typeface="Courier New"/>
              <a:cs typeface="Courier New"/>
              <a:sym typeface="Courier New"/>
            </a:endParaRPr>
          </a:p>
          <a:p>
            <a:pPr indent="0" lvl="0" marL="0" rtl="0" algn="l">
              <a:spcBef>
                <a:spcPts val="0"/>
              </a:spcBef>
              <a:spcAft>
                <a:spcPts val="0"/>
              </a:spcAft>
              <a:buNone/>
            </a:pPr>
            <a:r>
              <a:rPr i="1" lang="en-US" sz="1000">
                <a:solidFill>
                  <a:srgbClr val="23238E"/>
                </a:solidFill>
                <a:highlight>
                  <a:srgbClr val="F9F9F3"/>
                </a:highlight>
                <a:latin typeface="Courier New"/>
                <a:ea typeface="Courier New"/>
                <a:cs typeface="Courier New"/>
                <a:sym typeface="Courier New"/>
              </a:rPr>
              <a:t>Part 314</a:t>
            </a:r>
            <a:endParaRPr i="1" sz="1000">
              <a:solidFill>
                <a:srgbClr val="23238E"/>
              </a:solidFill>
              <a:highlight>
                <a:srgbClr val="F9F9F3"/>
              </a:highlight>
              <a:latin typeface="Courier New"/>
              <a:ea typeface="Courier New"/>
              <a:cs typeface="Courier New"/>
              <a:sym typeface="Courier New"/>
            </a:endParaRPr>
          </a:p>
          <a:p>
            <a:pPr indent="0" lvl="0" marL="0" rtl="0" algn="l">
              <a:lnSpc>
                <a:spcPct val="115000"/>
              </a:lnSpc>
              <a:spcBef>
                <a:spcPts val="600"/>
              </a:spcBef>
              <a:spcAft>
                <a:spcPts val="0"/>
              </a:spcAft>
              <a:buClr>
                <a:schemeClr val="dk1"/>
              </a:buClr>
              <a:buSzPts val="1100"/>
              <a:buFont typeface="Arial"/>
              <a:buNone/>
            </a:pPr>
            <a:r>
              <a:rPr lang="en-US" sz="1000">
                <a:solidFill>
                  <a:srgbClr val="23238E"/>
                </a:solidFill>
                <a:latin typeface="Courier New"/>
                <a:ea typeface="Courier New"/>
                <a:cs typeface="Courier New"/>
                <a:sym typeface="Courier New"/>
              </a:rPr>
              <a:t>(c) </a:t>
            </a:r>
            <a:r>
              <a:rPr i="1" lang="en-US" sz="1000">
                <a:solidFill>
                  <a:srgbClr val="23238E"/>
                </a:solidFill>
                <a:latin typeface="Courier New"/>
                <a:ea typeface="Courier New"/>
                <a:cs typeface="Courier New"/>
                <a:sym typeface="Courier New"/>
              </a:rPr>
              <a:t>Reporting requirements.</a:t>
            </a:r>
            <a:r>
              <a:rPr lang="en-US" sz="1000">
                <a:solidFill>
                  <a:srgbClr val="23238E"/>
                </a:solidFill>
                <a:latin typeface="Courier New"/>
                <a:ea typeface="Courier New"/>
                <a:cs typeface="Courier New"/>
                <a:sym typeface="Courier New"/>
              </a:rPr>
              <a:t> The applicant must submit to FDA adverse drug experience information as described in this section. Except as provided in paragraph (g)(2) of this section, these reports must be submitted to the Agency in electronic format as described in paragraph (g)(1) of this section.</a:t>
            </a:r>
            <a:endParaRPr sz="1000">
              <a:solidFill>
                <a:srgbClr val="23238E"/>
              </a:solidFill>
              <a:latin typeface="Courier New"/>
              <a:ea typeface="Courier New"/>
              <a:cs typeface="Courier New"/>
              <a:sym typeface="Courier New"/>
            </a:endParaRPr>
          </a:p>
          <a:p>
            <a:pPr indent="0" lvl="0" marL="0" rtl="0" algn="l">
              <a:lnSpc>
                <a:spcPct val="115000"/>
              </a:lnSpc>
              <a:spcBef>
                <a:spcPts val="600"/>
              </a:spcBef>
              <a:spcAft>
                <a:spcPts val="0"/>
              </a:spcAft>
              <a:buClr>
                <a:schemeClr val="dk1"/>
              </a:buClr>
              <a:buSzPts val="1100"/>
              <a:buFont typeface="Arial"/>
              <a:buNone/>
            </a:pPr>
            <a:r>
              <a:rPr lang="en-US" sz="1000">
                <a:solidFill>
                  <a:srgbClr val="23238E"/>
                </a:solidFill>
                <a:latin typeface="Courier New"/>
                <a:ea typeface="Courier New"/>
                <a:cs typeface="Courier New"/>
                <a:sym typeface="Courier New"/>
              </a:rPr>
              <a:t>(1)(i) </a:t>
            </a:r>
            <a:r>
              <a:rPr i="1" lang="en-US" sz="1000">
                <a:solidFill>
                  <a:srgbClr val="23238E"/>
                </a:solidFill>
                <a:latin typeface="Courier New"/>
                <a:ea typeface="Courier New"/>
                <a:cs typeface="Courier New"/>
                <a:sym typeface="Courier New"/>
              </a:rPr>
              <a:t>Postmarketing 15-day "Alert reports".</a:t>
            </a:r>
            <a:r>
              <a:rPr lang="en-US" sz="1000">
                <a:solidFill>
                  <a:srgbClr val="23238E"/>
                </a:solidFill>
                <a:latin typeface="Courier New"/>
                <a:ea typeface="Courier New"/>
                <a:cs typeface="Courier New"/>
                <a:sym typeface="Courier New"/>
              </a:rPr>
              <a:t> The applicant must report each adverse drug experience that is both serious and unexpected, whether foreign or domestic, as soon as possible but no later than 15 calendar days from initial receipt of the information by the applicant.</a:t>
            </a:r>
            <a:endParaRPr sz="1000">
              <a:solidFill>
                <a:srgbClr val="23238E"/>
              </a:solidFill>
              <a:latin typeface="Courier New"/>
              <a:ea typeface="Courier New"/>
              <a:cs typeface="Courier New"/>
              <a:sym typeface="Courier New"/>
            </a:endParaRPr>
          </a:p>
          <a:p>
            <a:pPr indent="0" lvl="0" marL="0" rtl="0" algn="l">
              <a:lnSpc>
                <a:spcPct val="115000"/>
              </a:lnSpc>
              <a:spcBef>
                <a:spcPts val="600"/>
              </a:spcBef>
              <a:spcAft>
                <a:spcPts val="0"/>
              </a:spcAft>
              <a:buSzPts val="1100"/>
              <a:buNone/>
            </a:pPr>
            <a:r>
              <a:rPr lang="en-US" sz="1000">
                <a:solidFill>
                  <a:srgbClr val="23238E"/>
                </a:solidFill>
                <a:latin typeface="Courier New"/>
                <a:ea typeface="Courier New"/>
                <a:cs typeface="Courier New"/>
                <a:sym typeface="Courier New"/>
              </a:rPr>
              <a:t>(ii) </a:t>
            </a:r>
            <a:r>
              <a:rPr i="1" lang="en-US" sz="1000">
                <a:solidFill>
                  <a:srgbClr val="23238E"/>
                </a:solidFill>
                <a:latin typeface="Courier New"/>
                <a:ea typeface="Courier New"/>
                <a:cs typeface="Courier New"/>
                <a:sym typeface="Courier New"/>
              </a:rPr>
              <a:t>Postmarketing 15-day "Alert reports"--followup.</a:t>
            </a:r>
            <a:r>
              <a:rPr lang="en-US" sz="1000">
                <a:solidFill>
                  <a:srgbClr val="23238E"/>
                </a:solidFill>
                <a:latin typeface="Courier New"/>
                <a:ea typeface="Courier New"/>
                <a:cs typeface="Courier New"/>
                <a:sym typeface="Courier New"/>
              </a:rPr>
              <a:t> The applicant must promptly investigate all adverse drug experiences that are the subject of these postmarketing 15-day Alert reports and must submit followup reports within 15 calendar days of receipt of new information or as requested by FDA. If additional information is not obtainable, records should be maintained of the unsuccessful steps taken to seek additional information.</a:t>
            </a:r>
            <a:endParaRPr sz="1000">
              <a:solidFill>
                <a:srgbClr val="23238E"/>
              </a:solidFill>
              <a:latin typeface="Courier New"/>
              <a:ea typeface="Courier New"/>
              <a:cs typeface="Courier New"/>
              <a:sym typeface="Courier New"/>
            </a:endParaRPr>
          </a:p>
          <a:p>
            <a:pPr indent="0" lvl="0" marL="0" rtl="0" algn="l">
              <a:lnSpc>
                <a:spcPct val="115000"/>
              </a:lnSpc>
              <a:spcBef>
                <a:spcPts val="600"/>
              </a:spcBef>
              <a:spcAft>
                <a:spcPts val="0"/>
              </a:spcAft>
              <a:buSzPts val="1100"/>
              <a:buNone/>
            </a:pPr>
            <a:r>
              <a:t/>
            </a:r>
            <a:endParaRPr sz="1000">
              <a:solidFill>
                <a:srgbClr val="23238E"/>
              </a:solidFill>
              <a:latin typeface="Courier New"/>
              <a:ea typeface="Courier New"/>
              <a:cs typeface="Courier New"/>
              <a:sym typeface="Courier New"/>
            </a:endParaRPr>
          </a:p>
          <a:p>
            <a:pPr indent="0" lvl="0" marL="0" rtl="0" algn="l">
              <a:lnSpc>
                <a:spcPct val="115000"/>
              </a:lnSpc>
              <a:spcBef>
                <a:spcPts val="600"/>
              </a:spcBef>
              <a:spcAft>
                <a:spcPts val="0"/>
              </a:spcAft>
              <a:buClr>
                <a:schemeClr val="dk1"/>
              </a:buClr>
              <a:buSzPts val="1100"/>
              <a:buFont typeface="Arial"/>
              <a:buNone/>
            </a:pPr>
            <a:r>
              <a:rPr lang="en-US" sz="1000">
                <a:solidFill>
                  <a:srgbClr val="23238E"/>
                </a:solidFill>
                <a:highlight>
                  <a:srgbClr val="F9F9F3"/>
                </a:highlight>
                <a:latin typeface="Courier New"/>
                <a:ea typeface="Courier New"/>
                <a:cs typeface="Courier New"/>
                <a:sym typeface="Courier New"/>
              </a:rPr>
              <a:t>(2) </a:t>
            </a:r>
            <a:r>
              <a:rPr i="1" lang="en-US" sz="1000">
                <a:solidFill>
                  <a:srgbClr val="23238E"/>
                </a:solidFill>
                <a:highlight>
                  <a:srgbClr val="F9F9F3"/>
                </a:highlight>
                <a:latin typeface="Courier New"/>
                <a:ea typeface="Courier New"/>
                <a:cs typeface="Courier New"/>
                <a:sym typeface="Courier New"/>
              </a:rPr>
              <a:t>Periodic adverse drug experience reports.</a:t>
            </a:r>
            <a:r>
              <a:rPr lang="en-US" sz="1000">
                <a:solidFill>
                  <a:srgbClr val="23238E"/>
                </a:solidFill>
                <a:highlight>
                  <a:srgbClr val="F9F9F3"/>
                </a:highlight>
                <a:latin typeface="Courier New"/>
                <a:ea typeface="Courier New"/>
                <a:cs typeface="Courier New"/>
                <a:sym typeface="Courier New"/>
              </a:rPr>
              <a:t> (i) The applicant must report each adverse drug experience not reported under paragraph (c)(1)(i) of this section at quarterly intervals, for 3 years from the date of approval of the application, and then at annual intervals. The applicant must submit each quarterly report within 30 days of the close of the quarter (the first quarter beginning on the date of approval of the application) and each annual report within 60 days of the anniversary date of approval of the application. Upon written notice, FDA may extend or reestablish the requirement that an applicant submit quarterly reports, or require that the applicant submit reports under this section at different times than those stated. For example, the agency may reestablish a quarterly reporting requirement following the approval of a major supplement. Followup information to adverse drug experiences submitted in a periodic report may be submitted in the next periodic report.</a:t>
            </a:r>
            <a:endParaRPr sz="1000">
              <a:solidFill>
                <a:srgbClr val="23238E"/>
              </a:solidFill>
              <a:latin typeface="Courier New"/>
              <a:ea typeface="Courier New"/>
              <a:cs typeface="Courier New"/>
              <a:sym typeface="Courier New"/>
            </a:endParaRPr>
          </a:p>
          <a:p>
            <a:pPr indent="0" lvl="0" marL="0" rtl="0" algn="l">
              <a:spcBef>
                <a:spcPts val="600"/>
              </a:spcBef>
              <a:spcAft>
                <a:spcPts val="0"/>
              </a:spcAft>
              <a:buNone/>
            </a:pPr>
            <a:r>
              <a:t/>
            </a:r>
            <a:endParaRPr i="1" sz="1000">
              <a:solidFill>
                <a:srgbClr val="23238E"/>
              </a:solidFill>
              <a:highlight>
                <a:srgbClr val="F9F9F3"/>
              </a:highlight>
              <a:latin typeface="Courier New"/>
              <a:ea typeface="Courier New"/>
              <a:cs typeface="Courier New"/>
              <a:sym typeface="Courier New"/>
            </a:endParaRPr>
          </a:p>
        </p:txBody>
      </p:sp>
      <p:sp>
        <p:nvSpPr>
          <p:cNvPr id="200" name="Google Shape;20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REMS stands for risk evaluation and mitigation strategy.</a:t>
            </a:r>
            <a:endParaRPr/>
          </a:p>
          <a:p>
            <a:pPr indent="0" lvl="0" marL="0" rtl="0" algn="l">
              <a:spcBef>
                <a:spcPts val="0"/>
              </a:spcBef>
              <a:spcAft>
                <a:spcPts val="0"/>
              </a:spcAft>
              <a:buNone/>
            </a:pPr>
            <a:r>
              <a:rPr lang="en-US"/>
              <a:t>CDER - Center for Drug evaluation and research - FDA</a:t>
            </a:r>
            <a:endParaRPr/>
          </a:p>
        </p:txBody>
      </p:sp>
      <p:sp>
        <p:nvSpPr>
          <p:cNvPr id="225" name="Google Shape;22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HIPAA is the acronym for the Health Insurance Portability and Accountability Act that was passed by Congress in 1996.  HIPAA does the following:</a:t>
            </a:r>
            <a:endParaRPr/>
          </a:p>
          <a:p>
            <a:pPr indent="0" lvl="0" marL="0" rtl="0" algn="l">
              <a:spcBef>
                <a:spcPts val="0"/>
              </a:spcBef>
              <a:spcAft>
                <a:spcPts val="0"/>
              </a:spcAft>
              <a:buNone/>
            </a:pPr>
            <a:r>
              <a:rPr lang="en-US"/>
              <a:t>Provides the ability to transfer and continue health insurance coverage for millions of American workers and their families when they change or lose their jobs;</a:t>
            </a:r>
            <a:endParaRPr/>
          </a:p>
          <a:p>
            <a:pPr indent="0" lvl="0" marL="0" rtl="0" algn="l">
              <a:spcBef>
                <a:spcPts val="0"/>
              </a:spcBef>
              <a:spcAft>
                <a:spcPts val="0"/>
              </a:spcAft>
              <a:buNone/>
            </a:pPr>
            <a:r>
              <a:rPr lang="en-US"/>
              <a:t>Reduces health care fraud and abuse;</a:t>
            </a:r>
            <a:endParaRPr/>
          </a:p>
          <a:p>
            <a:pPr indent="0" lvl="0" marL="0" rtl="0" algn="l">
              <a:spcBef>
                <a:spcPts val="0"/>
              </a:spcBef>
              <a:spcAft>
                <a:spcPts val="0"/>
              </a:spcAft>
              <a:buNone/>
            </a:pPr>
            <a:r>
              <a:rPr lang="en-US"/>
              <a:t>Mandates industry-wide standards for health care information on electronic billing and other processes; and </a:t>
            </a:r>
            <a:endParaRPr/>
          </a:p>
          <a:p>
            <a:pPr indent="0" lvl="0" marL="0" rtl="0" algn="l">
              <a:spcBef>
                <a:spcPts val="0"/>
              </a:spcBef>
              <a:spcAft>
                <a:spcPts val="0"/>
              </a:spcAft>
              <a:buNone/>
            </a:pPr>
            <a:r>
              <a:rPr lang="en-US"/>
              <a:t>Requires the protection and confidential handling of protected health information</a:t>
            </a:r>
            <a:endParaRPr/>
          </a:p>
          <a:p>
            <a:pPr indent="0" lvl="0" marL="0" rtl="0" algn="l">
              <a:spcBef>
                <a:spcPts val="0"/>
              </a:spcBef>
              <a:spcAft>
                <a:spcPts val="0"/>
              </a:spcAft>
              <a:buNone/>
            </a:pPr>
            <a:r>
              <a:t/>
            </a:r>
            <a:endParaRPr/>
          </a:p>
        </p:txBody>
      </p:sp>
      <p:sp>
        <p:nvSpPr>
          <p:cNvPr id="252" name="Google Shape;252;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solidFill>
                  <a:srgbClr val="313540"/>
                </a:solidFill>
                <a:latin typeface="Verdana"/>
                <a:ea typeface="Verdana"/>
                <a:cs typeface="Verdana"/>
                <a:sym typeface="Verdana"/>
              </a:rPr>
              <a:t>(CIOMS form) - Council for international organizations of medical sciences</a:t>
            </a:r>
            <a:endParaRPr sz="1100">
              <a:solidFill>
                <a:srgbClr val="313540"/>
              </a:solidFill>
              <a:latin typeface="Verdana"/>
              <a:ea typeface="Verdana"/>
              <a:cs typeface="Verdana"/>
              <a:sym typeface="Verdana"/>
            </a:endParaRPr>
          </a:p>
          <a:p>
            <a:pPr indent="-298450" lvl="0" marL="457200" rtl="0" algn="l">
              <a:spcBef>
                <a:spcPts val="0"/>
              </a:spcBef>
              <a:spcAft>
                <a:spcPts val="0"/>
              </a:spcAft>
              <a:buClr>
                <a:srgbClr val="313540"/>
              </a:buClr>
              <a:buSzPts val="1100"/>
              <a:buFont typeface="Verdana"/>
              <a:buChar char="●"/>
            </a:pPr>
            <a:r>
              <a:rPr lang="en-US" sz="1100">
                <a:solidFill>
                  <a:srgbClr val="313540"/>
                </a:solidFill>
                <a:latin typeface="Verdana"/>
                <a:ea typeface="Verdana"/>
                <a:cs typeface="Verdana"/>
                <a:sym typeface="Verdana"/>
              </a:rPr>
              <a:t>ask about dechallenge/rechallenge</a:t>
            </a:r>
            <a:endParaRPr sz="1100">
              <a:solidFill>
                <a:srgbClr val="313540"/>
              </a:solidFill>
              <a:latin typeface="Verdana"/>
              <a:ea typeface="Verdana"/>
              <a:cs typeface="Verdana"/>
              <a:sym typeface="Verdana"/>
            </a:endParaRPr>
          </a:p>
          <a:p>
            <a:pPr indent="0" lvl="0" marL="0" rtl="0" algn="l">
              <a:spcBef>
                <a:spcPts val="0"/>
              </a:spcBef>
              <a:spcAft>
                <a:spcPts val="0"/>
              </a:spcAft>
              <a:buNone/>
            </a:pPr>
            <a:r>
              <a:t/>
            </a:r>
            <a:endParaRPr sz="1100">
              <a:solidFill>
                <a:srgbClr val="313540"/>
              </a:solidFill>
              <a:latin typeface="Verdana"/>
              <a:ea typeface="Verdana"/>
              <a:cs typeface="Verdana"/>
              <a:sym typeface="Verdana"/>
            </a:endParaRPr>
          </a:p>
          <a:p>
            <a:pPr indent="0" lvl="0" marL="0" rtl="0" algn="l">
              <a:spcBef>
                <a:spcPts val="0"/>
              </a:spcBef>
              <a:spcAft>
                <a:spcPts val="0"/>
              </a:spcAft>
              <a:buNone/>
            </a:pPr>
            <a:r>
              <a:rPr lang="en-US" sz="1100">
                <a:solidFill>
                  <a:srgbClr val="313540"/>
                </a:solidFill>
                <a:latin typeface="Verdana"/>
                <a:ea typeface="Verdana"/>
                <a:cs typeface="Verdana"/>
                <a:sym typeface="Verdana"/>
              </a:rPr>
              <a:t>Causality for investigational product is required by FDA.</a:t>
            </a:r>
            <a:endParaRPr sz="1100">
              <a:solidFill>
                <a:srgbClr val="313540"/>
              </a:solidFill>
              <a:latin typeface="Verdana"/>
              <a:ea typeface="Verdana"/>
              <a:cs typeface="Verdana"/>
              <a:sym typeface="Verdana"/>
            </a:endParaRPr>
          </a:p>
        </p:txBody>
      </p:sp>
      <p:sp>
        <p:nvSpPr>
          <p:cNvPr id="270" name="Google Shape;27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SzPts val="1400"/>
              <a:buChar char="-"/>
            </a:pPr>
            <a:r>
              <a:rPr lang="en-US"/>
              <a:t>Difficult to pinpoint if medication caused adverse event in patient due to many factors</a:t>
            </a:r>
            <a:endParaRPr/>
          </a:p>
          <a:p>
            <a:pPr indent="-317500" lvl="0" marL="457200" rtl="0" algn="l">
              <a:spcBef>
                <a:spcPts val="0"/>
              </a:spcBef>
              <a:spcAft>
                <a:spcPts val="0"/>
              </a:spcAft>
              <a:buSzPts val="1400"/>
              <a:buChar char="-"/>
            </a:pPr>
            <a:r>
              <a:rPr lang="en-US"/>
              <a:t>Tools developed to assist with determining the probability that a particular drug caused an adverse event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 positive dechallenge refers to the AE disappearing after stopping the drug.  A negative dechallenge refers to the AE continuing even after stopping the drug.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Rechallenge can only be conducted after dechallenge, preferably positive dechallenge to see if the event occurs after the drug is restarted.  A positive rechallenge is when the AE recurs after restarting the drug.  For this to occur the AE had to have disappeared after dechallenge. Negative rechallenge is when the AE does not recur after restarting the medication.</a:t>
            </a:r>
            <a:endParaRPr/>
          </a:p>
        </p:txBody>
      </p:sp>
      <p:sp>
        <p:nvSpPr>
          <p:cNvPr id="277" name="Google Shape;277;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562d713ea1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g562d713ea1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g562d713ea1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6" name="Shape 26"/>
        <p:cNvGrpSpPr/>
        <p:nvPr/>
      </p:nvGrpSpPr>
      <p:grpSpPr>
        <a:xfrm>
          <a:off x="0" y="0"/>
          <a:ext cx="0" cy="0"/>
          <a:chOff x="0" y="0"/>
          <a:chExt cx="0" cy="0"/>
        </a:xfrm>
      </p:grpSpPr>
      <p:grpSp>
        <p:nvGrpSpPr>
          <p:cNvPr id="27" name="Google Shape;27;p2"/>
          <p:cNvGrpSpPr/>
          <p:nvPr/>
        </p:nvGrpSpPr>
        <p:grpSpPr>
          <a:xfrm>
            <a:off x="0" y="-8467"/>
            <a:ext cx="12192000" cy="6866467"/>
            <a:chOff x="0" y="-8467"/>
            <a:chExt cx="12192000" cy="6866467"/>
          </a:xfrm>
        </p:grpSpPr>
        <p:sp>
          <p:nvSpPr>
            <p:cNvPr id="28" name="Google Shape;28;p2"/>
            <p:cNvSpPr/>
            <p:nvPr/>
          </p:nvSpPr>
          <p:spPr>
            <a:xfrm>
              <a:off x="0" y="-7862"/>
              <a:ext cx="863600" cy="5698067"/>
            </a:xfrm>
            <a:custGeom>
              <a:rect b="b" l="l" r="r" t="t"/>
              <a:pathLst>
                <a:path extrusionOk="0" h="5698067" w="863600">
                  <a:moveTo>
                    <a:pt x="0" y="8467"/>
                  </a:moveTo>
                  <a:lnTo>
                    <a:pt x="863600" y="0"/>
                  </a:lnTo>
                  <a:lnTo>
                    <a:pt x="863600" y="16934"/>
                  </a:lnTo>
                  <a:lnTo>
                    <a:pt x="0" y="5698067"/>
                  </a:lnTo>
                  <a:lnTo>
                    <a:pt x="0" y="8467"/>
                  </a:lnTo>
                  <a:close/>
                </a:path>
              </a:pathLst>
            </a:custGeom>
            <a:solidFill>
              <a:schemeClr val="accent1">
                <a:alpha val="69803"/>
              </a:schemeClr>
            </a:solidFill>
            <a:ln>
              <a:noFill/>
            </a:ln>
          </p:spPr>
        </p:sp>
        <p:cxnSp>
          <p:nvCxnSpPr>
            <p:cNvPr id="29" name="Google Shape;29;p2"/>
            <p:cNvCxnSpPr/>
            <p:nvPr/>
          </p:nvCxnSpPr>
          <p:spPr>
            <a:xfrm>
              <a:off x="9371012" y="0"/>
              <a:ext cx="1219200" cy="6858000"/>
            </a:xfrm>
            <a:prstGeom prst="straightConnector1">
              <a:avLst/>
            </a:prstGeom>
            <a:noFill/>
            <a:ln cap="flat" cmpd="sng" w="9525">
              <a:solidFill>
                <a:schemeClr val="accent1">
                  <a:alpha val="69803"/>
                </a:schemeClr>
              </a:solidFill>
              <a:prstDash val="solid"/>
              <a:round/>
              <a:headEnd len="sm" w="sm" type="none"/>
              <a:tailEnd len="sm" w="sm" type="none"/>
            </a:ln>
          </p:spPr>
        </p:cxnSp>
        <p:cxnSp>
          <p:nvCxnSpPr>
            <p:cNvPr id="30" name="Google Shape;30;p2"/>
            <p:cNvCxnSpPr/>
            <p:nvPr/>
          </p:nvCxnSpPr>
          <p:spPr>
            <a:xfrm flipH="1">
              <a:off x="7425267" y="3681413"/>
              <a:ext cx="4763558" cy="3176587"/>
            </a:xfrm>
            <a:prstGeom prst="straightConnector1">
              <a:avLst/>
            </a:prstGeom>
            <a:noFill/>
            <a:ln cap="flat" cmpd="sng" w="9525">
              <a:solidFill>
                <a:schemeClr val="accent1">
                  <a:alpha val="69803"/>
                </a:schemeClr>
              </a:solidFill>
              <a:prstDash val="solid"/>
              <a:round/>
              <a:headEnd len="sm" w="sm" type="none"/>
              <a:tailEnd len="sm" w="sm" type="none"/>
            </a:ln>
          </p:spPr>
        </p:cxnSp>
        <p:sp>
          <p:nvSpPr>
            <p:cNvPr id="31" name="Google Shape;31;p2"/>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5686"/>
              </a:schemeClr>
            </a:solidFill>
            <a:ln>
              <a:noFill/>
            </a:ln>
          </p:spPr>
        </p:sp>
        <p:sp>
          <p:nvSpPr>
            <p:cNvPr id="32" name="Google Shape;32;p2"/>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33" name="Google Shape;33;p2"/>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49803"/>
              </a:srgbClr>
            </a:solidFill>
            <a:ln>
              <a:noFill/>
            </a:ln>
          </p:spPr>
        </p:sp>
        <p:sp>
          <p:nvSpPr>
            <p:cNvPr id="35" name="Google Shape;35;p2"/>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69803"/>
              </a:schemeClr>
            </a:solidFill>
            <a:ln>
              <a:noFill/>
            </a:ln>
          </p:spPr>
        </p:sp>
        <p:sp>
          <p:nvSpPr>
            <p:cNvPr id="36" name="Google Shape;36;p2"/>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37" name="Google Shape;37;p2"/>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 name="Google Shape;38;p2"/>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
          <p:cNvSpPr txBox="1"/>
          <p:nvPr>
            <p:ph idx="1" type="subTitle"/>
          </p:nvPr>
        </p:nvSpPr>
        <p:spPr>
          <a:xfrm>
            <a:off x="1507067" y="4050833"/>
            <a:ext cx="7766936" cy="1096899"/>
          </a:xfrm>
          <a:prstGeom prst="rect">
            <a:avLst/>
          </a:prstGeom>
          <a:noFill/>
          <a:ln>
            <a:noFill/>
          </a:ln>
        </p:spPr>
        <p:txBody>
          <a:bodyPr anchorCtr="0" anchor="t" bIns="45700" lIns="91425" spcFirstLastPara="1" rIns="91425" wrap="square" tIns="45700">
            <a:no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40" name="Google Shape;40;p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3" name="Shape 43"/>
        <p:cNvGrpSpPr/>
        <p:nvPr/>
      </p:nvGrpSpPr>
      <p:grpSpPr>
        <a:xfrm>
          <a:off x="0" y="0"/>
          <a:ext cx="0" cy="0"/>
          <a:chOff x="0" y="0"/>
          <a:chExt cx="0" cy="0"/>
        </a:xfrm>
      </p:grpSpPr>
      <p:sp>
        <p:nvSpPr>
          <p:cNvPr id="44" name="Google Shape;44;p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7" name="Shape 47"/>
        <p:cNvGrpSpPr/>
        <p:nvPr/>
      </p:nvGrpSpPr>
      <p:grpSpPr>
        <a:xfrm>
          <a:off x="0" y="0"/>
          <a:ext cx="0" cy="0"/>
          <a:chOff x="0" y="0"/>
          <a:chExt cx="0" cy="0"/>
        </a:xfrm>
      </p:grpSpPr>
      <p:sp>
        <p:nvSpPr>
          <p:cNvPr id="48" name="Google Shape;48;p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0" name="Google Shape;50;p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3" name="Shape 53"/>
        <p:cNvGrpSpPr/>
        <p:nvPr/>
      </p:nvGrpSpPr>
      <p:grpSpPr>
        <a:xfrm>
          <a:off x="0" y="0"/>
          <a:ext cx="0" cy="0"/>
          <a:chOff x="0" y="0"/>
          <a:chExt cx="0" cy="0"/>
        </a:xfrm>
      </p:grpSpPr>
      <p:sp>
        <p:nvSpPr>
          <p:cNvPr id="54" name="Google Shape;54;p5"/>
          <p:cNvSpPr txBox="1"/>
          <p:nvPr>
            <p:ph type="title"/>
          </p:nvPr>
        </p:nvSpPr>
        <p:spPr>
          <a:xfrm>
            <a:off x="677335" y="2700867"/>
            <a:ext cx="8596668" cy="182658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5"/>
          <p:cNvSpPr txBox="1"/>
          <p:nvPr>
            <p:ph idx="1" type="body"/>
          </p:nvPr>
        </p:nvSpPr>
        <p:spPr>
          <a:xfrm>
            <a:off x="677335" y="4527448"/>
            <a:ext cx="8596668" cy="860400"/>
          </a:xfrm>
          <a:prstGeom prst="rect">
            <a:avLst/>
          </a:prstGeom>
          <a:noFill/>
          <a:ln>
            <a:noFill/>
          </a:ln>
        </p:spPr>
        <p:txBody>
          <a:bodyPr anchorCtr="0" anchor="t" bIns="45700" lIns="91425" spcFirstLastPara="1" rIns="91425" wrap="square" tIns="45700">
            <a:no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56" name="Google Shape;56;p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9" name="Shape 59"/>
        <p:cNvGrpSpPr/>
        <p:nvPr/>
      </p:nvGrpSpPr>
      <p:grpSpPr>
        <a:xfrm>
          <a:off x="0" y="0"/>
          <a:ext cx="0" cy="0"/>
          <a:chOff x="0" y="0"/>
          <a:chExt cx="0" cy="0"/>
        </a:xfrm>
      </p:grpSpPr>
      <p:sp>
        <p:nvSpPr>
          <p:cNvPr id="60" name="Google Shape;60;p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6"/>
          <p:cNvSpPr txBox="1"/>
          <p:nvPr>
            <p:ph idx="1" type="body"/>
          </p:nvPr>
        </p:nvSpPr>
        <p:spPr>
          <a:xfrm>
            <a:off x="677334" y="2160589"/>
            <a:ext cx="4184035" cy="3880772"/>
          </a:xfrm>
          <a:prstGeom prst="rect">
            <a:avLst/>
          </a:prstGeom>
          <a:noFill/>
          <a:ln>
            <a:noFill/>
          </a:ln>
        </p:spPr>
        <p:txBody>
          <a:bodyPr anchorCtr="0" anchor="t" bIns="45700" lIns="91425" spcFirstLastPara="1" rIns="91425" wrap="square" tIns="45700">
            <a:no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2" name="Google Shape;62;p6"/>
          <p:cNvSpPr txBox="1"/>
          <p:nvPr>
            <p:ph idx="2" type="body"/>
          </p:nvPr>
        </p:nvSpPr>
        <p:spPr>
          <a:xfrm>
            <a:off x="5089970" y="2160589"/>
            <a:ext cx="4184034" cy="3880773"/>
          </a:xfrm>
          <a:prstGeom prst="rect">
            <a:avLst/>
          </a:prstGeom>
          <a:noFill/>
          <a:ln>
            <a:noFill/>
          </a:ln>
        </p:spPr>
        <p:txBody>
          <a:bodyPr anchorCtr="0" anchor="t" bIns="45700" lIns="91425" spcFirstLastPara="1" rIns="91425" wrap="square" tIns="45700">
            <a:no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3" name="Google Shape;63;p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6" name="Shape 66"/>
        <p:cNvGrpSpPr/>
        <p:nvPr/>
      </p:nvGrpSpPr>
      <p:grpSpPr>
        <a:xfrm>
          <a:off x="0" y="0"/>
          <a:ext cx="0" cy="0"/>
          <a:chOff x="0" y="0"/>
          <a:chExt cx="0" cy="0"/>
        </a:xfrm>
      </p:grpSpPr>
      <p:sp>
        <p:nvSpPr>
          <p:cNvPr id="67" name="Google Shape;67;p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7"/>
          <p:cNvSpPr txBox="1"/>
          <p:nvPr>
            <p:ph idx="1" type="body"/>
          </p:nvPr>
        </p:nvSpPr>
        <p:spPr>
          <a:xfrm>
            <a:off x="675745" y="2160983"/>
            <a:ext cx="418562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69" name="Google Shape;69;p7"/>
          <p:cNvSpPr txBox="1"/>
          <p:nvPr>
            <p:ph idx="2" type="body"/>
          </p:nvPr>
        </p:nvSpPr>
        <p:spPr>
          <a:xfrm>
            <a:off x="675745" y="2737245"/>
            <a:ext cx="4185623" cy="3304117"/>
          </a:xfrm>
          <a:prstGeom prst="rect">
            <a:avLst/>
          </a:prstGeom>
          <a:noFill/>
          <a:ln>
            <a:noFill/>
          </a:ln>
        </p:spPr>
        <p:txBody>
          <a:bodyPr anchorCtr="0" anchor="t" bIns="45700" lIns="91425" spcFirstLastPara="1" rIns="91425" wrap="square" tIns="45700">
            <a:no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70" name="Google Shape;70;p7"/>
          <p:cNvSpPr txBox="1"/>
          <p:nvPr>
            <p:ph idx="3" type="body"/>
          </p:nvPr>
        </p:nvSpPr>
        <p:spPr>
          <a:xfrm>
            <a:off x="5088383" y="2160983"/>
            <a:ext cx="418561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71" name="Google Shape;71;p7"/>
          <p:cNvSpPr txBox="1"/>
          <p:nvPr>
            <p:ph idx="4" type="body"/>
          </p:nvPr>
        </p:nvSpPr>
        <p:spPr>
          <a:xfrm>
            <a:off x="5088384" y="2737245"/>
            <a:ext cx="4185617" cy="3304117"/>
          </a:xfrm>
          <a:prstGeom prst="rect">
            <a:avLst/>
          </a:prstGeom>
          <a:noFill/>
          <a:ln>
            <a:noFill/>
          </a:ln>
        </p:spPr>
        <p:txBody>
          <a:bodyPr anchorCtr="0" anchor="t" bIns="45700" lIns="91425" spcFirstLastPara="1" rIns="91425" wrap="square" tIns="45700">
            <a:no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72" name="Google Shape;72;p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0" name="Shape 80"/>
        <p:cNvGrpSpPr/>
        <p:nvPr/>
      </p:nvGrpSpPr>
      <p:grpSpPr>
        <a:xfrm>
          <a:off x="0" y="0"/>
          <a:ext cx="0" cy="0"/>
          <a:chOff x="0" y="0"/>
          <a:chExt cx="0" cy="0"/>
        </a:xfrm>
      </p:grpSpPr>
      <p:sp>
        <p:nvSpPr>
          <p:cNvPr id="81" name="Google Shape;81;p9"/>
          <p:cNvSpPr txBox="1"/>
          <p:nvPr>
            <p:ph type="title"/>
          </p:nvPr>
        </p:nvSpPr>
        <p:spPr>
          <a:xfrm>
            <a:off x="677334" y="1498604"/>
            <a:ext cx="3854528" cy="1278466"/>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9"/>
          <p:cNvSpPr txBox="1"/>
          <p:nvPr>
            <p:ph idx="1" type="body"/>
          </p:nvPr>
        </p:nvSpPr>
        <p:spPr>
          <a:xfrm>
            <a:off x="4760461" y="514924"/>
            <a:ext cx="4513541" cy="5526437"/>
          </a:xfrm>
          <a:prstGeom prst="rect">
            <a:avLst/>
          </a:prstGeom>
          <a:noFill/>
          <a:ln>
            <a:noFill/>
          </a:ln>
        </p:spPr>
        <p:txBody>
          <a:bodyPr anchorCtr="0" anchor="t" bIns="45700" lIns="91425" spcFirstLastPara="1" rIns="91425" wrap="square" tIns="45700">
            <a:no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83" name="Google Shape;83;p9"/>
          <p:cNvSpPr txBox="1"/>
          <p:nvPr>
            <p:ph idx="2" type="body"/>
          </p:nvPr>
        </p:nvSpPr>
        <p:spPr>
          <a:xfrm>
            <a:off x="677334" y="2777069"/>
            <a:ext cx="3854528" cy="2584449"/>
          </a:xfrm>
          <a:prstGeom prst="rect">
            <a:avLst/>
          </a:prstGeom>
          <a:noFill/>
          <a:ln>
            <a:noFill/>
          </a:ln>
        </p:spPr>
        <p:txBody>
          <a:bodyPr anchorCtr="0" anchor="t" bIns="45700" lIns="91425" spcFirstLastPara="1" rIns="91425" wrap="square" tIns="45700">
            <a:no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1120"/>
              <a:buNone/>
              <a:defRPr sz="1400"/>
            </a:lvl2pPr>
            <a:lvl3pPr indent="-228600" lvl="2" marL="1371600" algn="l">
              <a:spcBef>
                <a:spcPts val="1000"/>
              </a:spcBef>
              <a:spcAft>
                <a:spcPts val="0"/>
              </a:spcAft>
              <a:buSzPts val="960"/>
              <a:buNone/>
              <a:defRPr sz="1200"/>
            </a:lvl3pPr>
            <a:lvl4pPr indent="-228600" lvl="3" marL="1828800" algn="l">
              <a:spcBef>
                <a:spcPts val="1000"/>
              </a:spcBef>
              <a:spcAft>
                <a:spcPts val="0"/>
              </a:spcAft>
              <a:buSzPts val="800"/>
              <a:buNone/>
              <a:defRPr sz="1000"/>
            </a:lvl4pPr>
            <a:lvl5pPr indent="-228600" lvl="4" marL="2286000" algn="l">
              <a:spcBef>
                <a:spcPts val="1000"/>
              </a:spcBef>
              <a:spcAft>
                <a:spcPts val="0"/>
              </a:spcAft>
              <a:buSzPts val="800"/>
              <a:buNone/>
              <a:defRPr sz="1000"/>
            </a:lvl5pPr>
            <a:lvl6pPr indent="-228600" lvl="5" marL="2743200" algn="l">
              <a:spcBef>
                <a:spcPts val="1000"/>
              </a:spcBef>
              <a:spcAft>
                <a:spcPts val="0"/>
              </a:spcAft>
              <a:buSzPts val="800"/>
              <a:buNone/>
              <a:defRPr sz="1000"/>
            </a:lvl6pPr>
            <a:lvl7pPr indent="-228600" lvl="6" marL="3200400" algn="l">
              <a:spcBef>
                <a:spcPts val="1000"/>
              </a:spcBef>
              <a:spcAft>
                <a:spcPts val="0"/>
              </a:spcAft>
              <a:buSzPts val="800"/>
              <a:buNone/>
              <a:defRPr sz="1000"/>
            </a:lvl7pPr>
            <a:lvl8pPr indent="-228600" lvl="7" marL="3657600" algn="l">
              <a:spcBef>
                <a:spcPts val="1000"/>
              </a:spcBef>
              <a:spcAft>
                <a:spcPts val="0"/>
              </a:spcAft>
              <a:buSzPts val="800"/>
              <a:buNone/>
              <a:defRPr sz="1000"/>
            </a:lvl8pPr>
            <a:lvl9pPr indent="-228600" lvl="8" marL="4114800" algn="l">
              <a:spcBef>
                <a:spcPts val="1000"/>
              </a:spcBef>
              <a:spcAft>
                <a:spcPts val="0"/>
              </a:spcAft>
              <a:buSzPts val="800"/>
              <a:buNone/>
              <a:defRPr sz="1000"/>
            </a:lvl9pPr>
          </a:lstStyle>
          <a:p/>
        </p:txBody>
      </p:sp>
      <p:sp>
        <p:nvSpPr>
          <p:cNvPr id="84" name="Google Shape;84;p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7" name="Shape 87"/>
        <p:cNvGrpSpPr/>
        <p:nvPr/>
      </p:nvGrpSpPr>
      <p:grpSpPr>
        <a:xfrm>
          <a:off x="0" y="0"/>
          <a:ext cx="0" cy="0"/>
          <a:chOff x="0" y="0"/>
          <a:chExt cx="0" cy="0"/>
        </a:xfrm>
      </p:grpSpPr>
      <p:sp>
        <p:nvSpPr>
          <p:cNvPr id="88" name="Google Shape;88;p10"/>
          <p:cNvSpPr txBox="1"/>
          <p:nvPr>
            <p:ph type="title"/>
          </p:nvPr>
        </p:nvSpPr>
        <p:spPr>
          <a:xfrm>
            <a:off x="677334" y="4800600"/>
            <a:ext cx="8596667"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0"/>
          <p:cNvSpPr/>
          <p:nvPr>
            <p:ph idx="2" type="pic"/>
          </p:nvPr>
        </p:nvSpPr>
        <p:spPr>
          <a:xfrm>
            <a:off x="677334" y="609600"/>
            <a:ext cx="8596668" cy="3845718"/>
          </a:xfrm>
          <a:prstGeom prst="rect">
            <a:avLst/>
          </a:prstGeom>
          <a:noFill/>
          <a:ln>
            <a:noFill/>
          </a:ln>
        </p:spPr>
        <p:txBody>
          <a:bodyPr anchorCtr="0" anchor="t" bIns="45700" lIns="91425" spcFirstLastPara="1" rIns="91425" wrap="square" tIns="45700">
            <a:noAutofit/>
          </a:bodyPr>
          <a:lstStyle>
            <a:lvl1pPr lvl="0" marR="0" rtl="0" algn="ctr">
              <a:spcBef>
                <a:spcPts val="1000"/>
              </a:spcBef>
              <a:spcAft>
                <a:spcPts val="0"/>
              </a:spcAft>
              <a:buClr>
                <a:schemeClr val="accent1"/>
              </a:buClr>
              <a:buSzPts val="1280"/>
              <a:buFont typeface="Noto Sans Symbols"/>
              <a:buNone/>
              <a:defRPr b="0" i="0" sz="1600" u="none" cap="none" strike="noStrike">
                <a:solidFill>
                  <a:srgbClr val="3F3F3F"/>
                </a:solidFill>
                <a:latin typeface="Trebuchet MS"/>
                <a:ea typeface="Trebuchet MS"/>
                <a:cs typeface="Trebuchet MS"/>
                <a:sym typeface="Trebuchet MS"/>
              </a:defRPr>
            </a:lvl1pPr>
            <a:lvl2pPr lvl="1" marR="0" rtl="0" algn="l">
              <a:spcBef>
                <a:spcPts val="1000"/>
              </a:spcBef>
              <a:spcAft>
                <a:spcPts val="0"/>
              </a:spcAft>
              <a:buClr>
                <a:schemeClr val="accent1"/>
              </a:buClr>
              <a:buSzPts val="1280"/>
              <a:buFont typeface="Noto Sans Symbols"/>
              <a:buNone/>
              <a:defRPr b="0" i="0" sz="1600" u="none" cap="none" strike="noStrike">
                <a:solidFill>
                  <a:srgbClr val="3F3F3F"/>
                </a:solidFill>
                <a:latin typeface="Trebuchet MS"/>
                <a:ea typeface="Trebuchet MS"/>
                <a:cs typeface="Trebuchet MS"/>
                <a:sym typeface="Trebuchet MS"/>
              </a:defRPr>
            </a:lvl2pPr>
            <a:lvl3pPr lvl="2" marR="0" rtl="0" algn="l">
              <a:spcBef>
                <a:spcPts val="1000"/>
              </a:spcBef>
              <a:spcAft>
                <a:spcPts val="0"/>
              </a:spcAft>
              <a:buClr>
                <a:schemeClr val="accent1"/>
              </a:buClr>
              <a:buSzPts val="1280"/>
              <a:buFont typeface="Noto Sans Symbols"/>
              <a:buNone/>
              <a:defRPr b="0" i="0" sz="1600" u="none" cap="none" strike="noStrike">
                <a:solidFill>
                  <a:srgbClr val="3F3F3F"/>
                </a:solidFill>
                <a:latin typeface="Trebuchet MS"/>
                <a:ea typeface="Trebuchet MS"/>
                <a:cs typeface="Trebuchet MS"/>
                <a:sym typeface="Trebuchet MS"/>
              </a:defRPr>
            </a:lvl3pPr>
            <a:lvl4pPr lvl="3" marR="0" rtl="0" algn="l">
              <a:spcBef>
                <a:spcPts val="1000"/>
              </a:spcBef>
              <a:spcAft>
                <a:spcPts val="0"/>
              </a:spcAft>
              <a:buClr>
                <a:schemeClr val="accent1"/>
              </a:buClr>
              <a:buSzPts val="1280"/>
              <a:buFont typeface="Noto Sans Symbols"/>
              <a:buNone/>
              <a:defRPr b="0" i="0" sz="1600" u="none" cap="none" strike="noStrike">
                <a:solidFill>
                  <a:srgbClr val="3F3F3F"/>
                </a:solidFill>
                <a:latin typeface="Trebuchet MS"/>
                <a:ea typeface="Trebuchet MS"/>
                <a:cs typeface="Trebuchet MS"/>
                <a:sym typeface="Trebuchet MS"/>
              </a:defRPr>
            </a:lvl4pPr>
            <a:lvl5pPr lvl="4" marR="0" rtl="0" algn="l">
              <a:spcBef>
                <a:spcPts val="1000"/>
              </a:spcBef>
              <a:spcAft>
                <a:spcPts val="0"/>
              </a:spcAft>
              <a:buClr>
                <a:schemeClr val="accent1"/>
              </a:buClr>
              <a:buSzPts val="1280"/>
              <a:buFont typeface="Noto Sans Symbols"/>
              <a:buNone/>
              <a:defRPr b="0" i="0" sz="1600" u="none" cap="none" strike="noStrike">
                <a:solidFill>
                  <a:srgbClr val="3F3F3F"/>
                </a:solidFill>
                <a:latin typeface="Trebuchet MS"/>
                <a:ea typeface="Trebuchet MS"/>
                <a:cs typeface="Trebuchet MS"/>
                <a:sym typeface="Trebuchet MS"/>
              </a:defRPr>
            </a:lvl5pPr>
            <a:lvl6pPr lvl="5" marR="0" rtl="0" algn="l">
              <a:spcBef>
                <a:spcPts val="1000"/>
              </a:spcBef>
              <a:spcAft>
                <a:spcPts val="0"/>
              </a:spcAft>
              <a:buClr>
                <a:schemeClr val="accent1"/>
              </a:buClr>
              <a:buSzPts val="1280"/>
              <a:buFont typeface="Noto Sans Symbols"/>
              <a:buNone/>
              <a:defRPr b="0" i="0" sz="1600" u="none" cap="none" strike="noStrike">
                <a:solidFill>
                  <a:srgbClr val="3F3F3F"/>
                </a:solidFill>
                <a:latin typeface="Trebuchet MS"/>
                <a:ea typeface="Trebuchet MS"/>
                <a:cs typeface="Trebuchet MS"/>
                <a:sym typeface="Trebuchet MS"/>
              </a:defRPr>
            </a:lvl6pPr>
            <a:lvl7pPr lvl="6" marR="0" rtl="0" algn="l">
              <a:spcBef>
                <a:spcPts val="1000"/>
              </a:spcBef>
              <a:spcAft>
                <a:spcPts val="0"/>
              </a:spcAft>
              <a:buClr>
                <a:schemeClr val="accent1"/>
              </a:buClr>
              <a:buSzPts val="1280"/>
              <a:buFont typeface="Noto Sans Symbols"/>
              <a:buNone/>
              <a:defRPr b="0" i="0" sz="1600" u="none" cap="none" strike="noStrike">
                <a:solidFill>
                  <a:srgbClr val="3F3F3F"/>
                </a:solidFill>
                <a:latin typeface="Trebuchet MS"/>
                <a:ea typeface="Trebuchet MS"/>
                <a:cs typeface="Trebuchet MS"/>
                <a:sym typeface="Trebuchet MS"/>
              </a:defRPr>
            </a:lvl7pPr>
            <a:lvl8pPr lvl="7" marR="0" rtl="0" algn="l">
              <a:spcBef>
                <a:spcPts val="1000"/>
              </a:spcBef>
              <a:spcAft>
                <a:spcPts val="0"/>
              </a:spcAft>
              <a:buClr>
                <a:schemeClr val="accent1"/>
              </a:buClr>
              <a:buSzPts val="1280"/>
              <a:buFont typeface="Noto Sans Symbols"/>
              <a:buNone/>
              <a:defRPr b="0" i="0" sz="1600" u="none" cap="none" strike="noStrike">
                <a:solidFill>
                  <a:srgbClr val="3F3F3F"/>
                </a:solidFill>
                <a:latin typeface="Trebuchet MS"/>
                <a:ea typeface="Trebuchet MS"/>
                <a:cs typeface="Trebuchet MS"/>
                <a:sym typeface="Trebuchet MS"/>
              </a:defRPr>
            </a:lvl8pPr>
            <a:lvl9pPr lvl="8" marR="0" rtl="0" algn="l">
              <a:spcBef>
                <a:spcPts val="1000"/>
              </a:spcBef>
              <a:spcAft>
                <a:spcPts val="0"/>
              </a:spcAft>
              <a:buClr>
                <a:schemeClr val="accent1"/>
              </a:buClr>
              <a:buSzPts val="1280"/>
              <a:buFont typeface="Noto Sans Symbols"/>
              <a:buNone/>
              <a:defRPr b="0" i="0" sz="1600" u="none" cap="none" strike="noStrike">
                <a:solidFill>
                  <a:srgbClr val="3F3F3F"/>
                </a:solidFill>
                <a:latin typeface="Trebuchet MS"/>
                <a:ea typeface="Trebuchet MS"/>
                <a:cs typeface="Trebuchet MS"/>
                <a:sym typeface="Trebuchet MS"/>
              </a:defRPr>
            </a:lvl9pPr>
          </a:lstStyle>
          <a:p/>
        </p:txBody>
      </p:sp>
      <p:sp>
        <p:nvSpPr>
          <p:cNvPr id="90" name="Google Shape;90;p10"/>
          <p:cNvSpPr txBox="1"/>
          <p:nvPr>
            <p:ph idx="1" type="body"/>
          </p:nvPr>
        </p:nvSpPr>
        <p:spPr>
          <a:xfrm>
            <a:off x="677334" y="5367338"/>
            <a:ext cx="8596667" cy="674024"/>
          </a:xfrm>
          <a:prstGeom prst="rect">
            <a:avLst/>
          </a:prstGeom>
          <a:noFill/>
          <a:ln>
            <a:noFill/>
          </a:ln>
        </p:spPr>
        <p:txBody>
          <a:bodyPr anchorCtr="0" anchor="t" bIns="45700" lIns="91425" spcFirstLastPara="1" rIns="91425" wrap="square" tIns="45700">
            <a:no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1" name="Google Shape;91;p1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3" name="Google Shape;93;p1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4" name="Shape 94"/>
        <p:cNvGrpSpPr/>
        <p:nvPr/>
      </p:nvGrpSpPr>
      <p:grpSpPr>
        <a:xfrm>
          <a:off x="0" y="0"/>
          <a:ext cx="0" cy="0"/>
          <a:chOff x="0" y="0"/>
          <a:chExt cx="0" cy="0"/>
        </a:xfrm>
      </p:grpSpPr>
      <p:sp>
        <p:nvSpPr>
          <p:cNvPr id="95" name="Google Shape;95;p11"/>
          <p:cNvSpPr txBox="1"/>
          <p:nvPr>
            <p:ph type="title"/>
          </p:nvPr>
        </p:nvSpPr>
        <p:spPr>
          <a:xfrm>
            <a:off x="677335" y="609600"/>
            <a:ext cx="8596668" cy="3403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1"/>
          <p:cNvSpPr txBox="1"/>
          <p:nvPr>
            <p:ph idx="1" type="body"/>
          </p:nvPr>
        </p:nvSpPr>
        <p:spPr>
          <a:xfrm>
            <a:off x="677335" y="4470400"/>
            <a:ext cx="8596668" cy="1570962"/>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7" name="Google Shape;97;p1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00" name="Shape 100"/>
        <p:cNvGrpSpPr/>
        <p:nvPr/>
      </p:nvGrpSpPr>
      <p:grpSpPr>
        <a:xfrm>
          <a:off x="0" y="0"/>
          <a:ext cx="0" cy="0"/>
          <a:chOff x="0" y="0"/>
          <a:chExt cx="0" cy="0"/>
        </a:xfrm>
      </p:grpSpPr>
      <p:sp>
        <p:nvSpPr>
          <p:cNvPr id="101" name="Google Shape;101;p12"/>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2"/>
          <p:cNvSpPr txBox="1"/>
          <p:nvPr>
            <p:ph idx="1" type="body"/>
          </p:nvPr>
        </p:nvSpPr>
        <p:spPr>
          <a:xfrm>
            <a:off x="1366139" y="3632200"/>
            <a:ext cx="722452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3" name="Google Shape;103;p12"/>
          <p:cNvSpPr txBox="1"/>
          <p:nvPr>
            <p:ph idx="2" type="body"/>
          </p:nvPr>
        </p:nvSpPr>
        <p:spPr>
          <a:xfrm>
            <a:off x="677335" y="4470400"/>
            <a:ext cx="8596668" cy="1570962"/>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04" name="Google Shape;104;p1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1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7" name="Google Shape;107;p12"/>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9EDFF5"/>
                </a:solidFill>
                <a:latin typeface="Arial"/>
                <a:ea typeface="Arial"/>
                <a:cs typeface="Arial"/>
                <a:sym typeface="Arial"/>
              </a:rPr>
              <a:t>“</a:t>
            </a:r>
            <a:endParaRPr/>
          </a:p>
        </p:txBody>
      </p:sp>
      <p:sp>
        <p:nvSpPr>
          <p:cNvPr id="108" name="Google Shape;108;p12"/>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9EDFF5"/>
                </a:solidFill>
                <a:latin typeface="Arial"/>
                <a:ea typeface="Arial"/>
                <a:cs typeface="Arial"/>
                <a:sym typeface="Arial"/>
              </a:rPr>
              <a: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9" name="Shape 109"/>
        <p:cNvGrpSpPr/>
        <p:nvPr/>
      </p:nvGrpSpPr>
      <p:grpSpPr>
        <a:xfrm>
          <a:off x="0" y="0"/>
          <a:ext cx="0" cy="0"/>
          <a:chOff x="0" y="0"/>
          <a:chExt cx="0" cy="0"/>
        </a:xfrm>
      </p:grpSpPr>
      <p:sp>
        <p:nvSpPr>
          <p:cNvPr id="110" name="Google Shape;110;p13"/>
          <p:cNvSpPr txBox="1"/>
          <p:nvPr>
            <p:ph type="title"/>
          </p:nvPr>
        </p:nvSpPr>
        <p:spPr>
          <a:xfrm>
            <a:off x="677335" y="1931988"/>
            <a:ext cx="8596668" cy="25954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13"/>
          <p:cNvSpPr txBox="1"/>
          <p:nvPr>
            <p:ph idx="1" type="body"/>
          </p:nvPr>
        </p:nvSpPr>
        <p:spPr>
          <a:xfrm>
            <a:off x="677335" y="4527448"/>
            <a:ext cx="8596668" cy="1513914"/>
          </a:xfrm>
          <a:prstGeom prst="rect">
            <a:avLst/>
          </a:prstGeom>
          <a:noFill/>
          <a:ln>
            <a:noFill/>
          </a:ln>
        </p:spPr>
        <p:txBody>
          <a:bodyPr anchorCtr="0" anchor="t" bIns="45700" lIns="91425" spcFirstLastPara="1" rIns="91425" wrap="square" tIns="45700">
            <a:no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12" name="Google Shape;112;p1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1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5" name="Shape 115"/>
        <p:cNvGrpSpPr/>
        <p:nvPr/>
      </p:nvGrpSpPr>
      <p:grpSpPr>
        <a:xfrm>
          <a:off x="0" y="0"/>
          <a:ext cx="0" cy="0"/>
          <a:chOff x="0" y="0"/>
          <a:chExt cx="0" cy="0"/>
        </a:xfrm>
      </p:grpSpPr>
      <p:sp>
        <p:nvSpPr>
          <p:cNvPr id="116" name="Google Shape;116;p14"/>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14"/>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8" name="Google Shape;118;p14"/>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19" name="Google Shape;119;p1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1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1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2" name="Google Shape;122;p14"/>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9EDFF5"/>
                </a:solidFill>
                <a:latin typeface="Arial"/>
                <a:ea typeface="Arial"/>
                <a:cs typeface="Arial"/>
                <a:sym typeface="Arial"/>
              </a:rPr>
              <a:t>“</a:t>
            </a:r>
            <a:endParaRPr/>
          </a:p>
        </p:txBody>
      </p:sp>
      <p:sp>
        <p:nvSpPr>
          <p:cNvPr id="123" name="Google Shape;123;p14"/>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9EDFF5"/>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4" name="Shape 124"/>
        <p:cNvGrpSpPr/>
        <p:nvPr/>
      </p:nvGrpSpPr>
      <p:grpSpPr>
        <a:xfrm>
          <a:off x="0" y="0"/>
          <a:ext cx="0" cy="0"/>
          <a:chOff x="0" y="0"/>
          <a:chExt cx="0" cy="0"/>
        </a:xfrm>
      </p:grpSpPr>
      <p:sp>
        <p:nvSpPr>
          <p:cNvPr id="125" name="Google Shape;125;p15"/>
          <p:cNvSpPr txBox="1"/>
          <p:nvPr>
            <p:ph type="title"/>
          </p:nvPr>
        </p:nvSpPr>
        <p:spPr>
          <a:xfrm>
            <a:off x="685799" y="609600"/>
            <a:ext cx="8588203" cy="302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15"/>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7" name="Google Shape;127;p15"/>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28" name="Google Shape;128;p1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1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1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1" name="Shape 131"/>
        <p:cNvGrpSpPr/>
        <p:nvPr/>
      </p:nvGrpSpPr>
      <p:grpSpPr>
        <a:xfrm>
          <a:off x="0" y="0"/>
          <a:ext cx="0" cy="0"/>
          <a:chOff x="0" y="0"/>
          <a:chExt cx="0" cy="0"/>
        </a:xfrm>
      </p:grpSpPr>
      <p:sp>
        <p:nvSpPr>
          <p:cNvPr id="132" name="Google Shape;132;p1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16"/>
          <p:cNvSpPr txBox="1"/>
          <p:nvPr>
            <p:ph idx="1" type="body"/>
          </p:nvPr>
        </p:nvSpPr>
        <p:spPr>
          <a:xfrm rot="5400000">
            <a:off x="3035282" y="-197358"/>
            <a:ext cx="3880773" cy="8596668"/>
          </a:xfrm>
          <a:prstGeom prst="rect">
            <a:avLst/>
          </a:prstGeom>
          <a:noFill/>
          <a:ln>
            <a:noFill/>
          </a:ln>
        </p:spPr>
        <p:txBody>
          <a:bodyPr anchorCtr="0" anchor="t" bIns="45700" lIns="91425" spcFirstLastPara="1" rIns="91425" wrap="square" tIns="45700">
            <a:no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4" name="Google Shape;134;p1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1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1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7" name="Shape 137"/>
        <p:cNvGrpSpPr/>
        <p:nvPr/>
      </p:nvGrpSpPr>
      <p:grpSpPr>
        <a:xfrm>
          <a:off x="0" y="0"/>
          <a:ext cx="0" cy="0"/>
          <a:chOff x="0" y="0"/>
          <a:chExt cx="0" cy="0"/>
        </a:xfrm>
      </p:grpSpPr>
      <p:sp>
        <p:nvSpPr>
          <p:cNvPr id="138" name="Google Shape;138;p17"/>
          <p:cNvSpPr txBox="1"/>
          <p:nvPr>
            <p:ph type="title"/>
          </p:nvPr>
        </p:nvSpPr>
        <p:spPr>
          <a:xfrm rot="5400000">
            <a:off x="5994319" y="2582953"/>
            <a:ext cx="5251451" cy="130474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17"/>
          <p:cNvSpPr txBox="1"/>
          <p:nvPr>
            <p:ph idx="1" type="body"/>
          </p:nvPr>
        </p:nvSpPr>
        <p:spPr>
          <a:xfrm rot="5400000">
            <a:off x="1581685" y="-294750"/>
            <a:ext cx="5251450" cy="7060150"/>
          </a:xfrm>
          <a:prstGeom prst="rect">
            <a:avLst/>
          </a:prstGeom>
          <a:noFill/>
          <a:ln>
            <a:noFill/>
          </a:ln>
        </p:spPr>
        <p:txBody>
          <a:bodyPr anchorCtr="0" anchor="t" bIns="45700" lIns="91425" spcFirstLastPara="1" rIns="91425" wrap="square" tIns="45700">
            <a:no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0" name="Google Shape;140;p1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1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1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
          <p:cNvGrpSpPr/>
          <p:nvPr/>
        </p:nvGrpSpPr>
        <p:grpSpPr>
          <a:xfrm>
            <a:off x="0" y="-8467"/>
            <a:ext cx="12192000" cy="6866467"/>
            <a:chOff x="0" y="-8467"/>
            <a:chExt cx="12192000" cy="6866467"/>
          </a:xfrm>
        </p:grpSpPr>
        <p:cxnSp>
          <p:nvCxnSpPr>
            <p:cNvPr id="11" name="Google Shape;11;p1"/>
            <p:cNvCxnSpPr/>
            <p:nvPr/>
          </p:nvCxnSpPr>
          <p:spPr>
            <a:xfrm>
              <a:off x="9371012" y="0"/>
              <a:ext cx="1219200" cy="6858000"/>
            </a:xfrm>
            <a:prstGeom prst="straightConnector1">
              <a:avLst/>
            </a:prstGeom>
            <a:noFill/>
            <a:ln cap="flat" cmpd="sng" w="9525">
              <a:solidFill>
                <a:schemeClr val="accent1">
                  <a:alpha val="69803"/>
                </a:schemeClr>
              </a:solidFill>
              <a:prstDash val="solid"/>
              <a:round/>
              <a:headEnd len="sm" w="sm" type="none"/>
              <a:tailEnd len="sm" w="sm" type="none"/>
            </a:ln>
          </p:spPr>
        </p:cxnSp>
        <p:cxnSp>
          <p:nvCxnSpPr>
            <p:cNvPr id="12" name="Google Shape;12;p1"/>
            <p:cNvCxnSpPr/>
            <p:nvPr/>
          </p:nvCxnSpPr>
          <p:spPr>
            <a:xfrm flipH="1">
              <a:off x="7425267" y="3681413"/>
              <a:ext cx="4763558" cy="3176587"/>
            </a:xfrm>
            <a:prstGeom prst="straightConnector1">
              <a:avLst/>
            </a:prstGeom>
            <a:noFill/>
            <a:ln cap="flat" cmpd="sng" w="9525">
              <a:solidFill>
                <a:schemeClr val="accent1">
                  <a:alpha val="69803"/>
                </a:schemeClr>
              </a:solidFill>
              <a:prstDash val="solid"/>
              <a:round/>
              <a:headEnd len="sm" w="sm" type="none"/>
              <a:tailEnd len="sm" w="sm" type="none"/>
            </a:ln>
          </p:spPr>
        </p:cxnSp>
        <p:sp>
          <p:nvSpPr>
            <p:cNvPr id="13" name="Google Shape;13;p1"/>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5686"/>
              </a:schemeClr>
            </a:solidFill>
            <a:ln>
              <a:noFill/>
            </a:ln>
          </p:spPr>
        </p:sp>
        <p:sp>
          <p:nvSpPr>
            <p:cNvPr id="14" name="Google Shape;14;p1"/>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1"/>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49803"/>
              </a:srgbClr>
            </a:solidFill>
            <a:ln>
              <a:noFill/>
            </a:ln>
          </p:spPr>
        </p:sp>
        <p:sp>
          <p:nvSpPr>
            <p:cNvPr id="17" name="Google Shape;17;p1"/>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69803"/>
              </a:schemeClr>
            </a:solidFill>
            <a:ln>
              <a:noFill/>
            </a:ln>
          </p:spPr>
        </p:sp>
        <p:sp>
          <p:nvSpPr>
            <p:cNvPr id="18" name="Google Shape;18;p1"/>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9" name="Google Shape;19;p1"/>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0" y="4013200"/>
              <a:ext cx="448733" cy="2844800"/>
            </a:xfrm>
            <a:prstGeom prst="triangle">
              <a:avLst>
                <a:gd fmla="val 0" name="adj"/>
              </a:avLst>
            </a:prstGeom>
            <a:solidFill>
              <a:schemeClr val="accent1">
                <a:alpha val="6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2" name="Google Shape;22;p1"/>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20"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60"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60"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23" name="Google Shape;23;p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4" name="Google Shape;24;p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5" name="Google Shape;25;p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froshvocab.pbworks.com/w/page/8177335/Adverse" TargetMode="External"/><Relationship Id="rId4" Type="http://schemas.openxmlformats.org/officeDocument/2006/relationships/image" Target="../media/image1.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www.fda.gov/Safety/MedWatch/HowToReport/default.ht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vaers.hhs.gov/esub/step1"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www.safetyreporting.hhs.gov/" TargetMode="External"/><Relationship Id="rId4" Type="http://schemas.openxmlformats.org/officeDocument/2006/relationships/hyperlink" Target="http://www.fda.gov/animalveterinary/safetyhealth/reportaproblem/ucm055305.htm"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www.accessdata.fda.gov/scripts/cdrh/cfdocs/cfcfr/CFRSearch.cfm?fr=312.32" TargetMode="External"/><Relationship Id="rId4" Type="http://schemas.openxmlformats.org/officeDocument/2006/relationships/hyperlink" Target="http://www.fda.gov/Safety/MedWatch/HowToReport/ucm053087.htm" TargetMode="External"/><Relationship Id="rId5" Type="http://schemas.openxmlformats.org/officeDocument/2006/relationships/hyperlink" Target="http://www.fda.gov/BiologicsBloodVaccines/SafetyAvailability/ReportaProblem/VaccineAdverseEvents/Overview/default.htm" TargetMode="External"/><Relationship Id="rId6" Type="http://schemas.openxmlformats.org/officeDocument/2006/relationships/hyperlink" Target="http://www.who.int/medicines/areas/coordination/English_Glossary.pdf" TargetMode="External"/><Relationship Id="rId7" Type="http://schemas.openxmlformats.org/officeDocument/2006/relationships/hyperlink" Target="http://www.fda.gov/Safety/MedWatch/HowToReport/default.ht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8"/>
          <p:cNvSpPr txBox="1"/>
          <p:nvPr>
            <p:ph type="ctrTitle"/>
          </p:nvPr>
        </p:nvSpPr>
        <p:spPr>
          <a:xfrm>
            <a:off x="1021285" y="2054753"/>
            <a:ext cx="7766936" cy="1646302"/>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rgbClr val="0000FF"/>
              </a:buClr>
              <a:buSzPts val="5400"/>
              <a:buFont typeface="Trebuchet MS"/>
              <a:buNone/>
            </a:pPr>
            <a:r>
              <a:rPr b="1" lang="en-US">
                <a:solidFill>
                  <a:srgbClr val="0000FF"/>
                </a:solidFill>
              </a:rPr>
              <a:t>Adverse Drug Events</a:t>
            </a:r>
            <a:endParaRPr/>
          </a:p>
        </p:txBody>
      </p:sp>
      <p:sp>
        <p:nvSpPr>
          <p:cNvPr id="149" name="Google Shape;149;p18"/>
          <p:cNvSpPr txBox="1"/>
          <p:nvPr>
            <p:ph idx="1" type="subTitle"/>
          </p:nvPr>
        </p:nvSpPr>
        <p:spPr>
          <a:xfrm>
            <a:off x="1507067" y="4050833"/>
            <a:ext cx="7766936" cy="1096899"/>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SzPts val="1332"/>
              <a:buNone/>
            </a:pPr>
            <a:r>
              <a:rPr b="1" lang="en-US" sz="1665"/>
              <a:t>PHPR 630: Drug Information and Literature Evaluation</a:t>
            </a:r>
            <a:endParaRPr/>
          </a:p>
          <a:p>
            <a:pPr indent="0" lvl="0" marL="0" rtl="0" algn="ctr">
              <a:lnSpc>
                <a:spcPct val="90000"/>
              </a:lnSpc>
              <a:spcBef>
                <a:spcPts val="1000"/>
              </a:spcBef>
              <a:spcAft>
                <a:spcPts val="0"/>
              </a:spcAft>
              <a:buSzPts val="1332"/>
              <a:buNone/>
            </a:pPr>
            <a:r>
              <a:rPr b="1" lang="en-US" sz="1665"/>
              <a:t>Spring 2019</a:t>
            </a:r>
            <a:endParaRPr/>
          </a:p>
          <a:p>
            <a:pPr indent="0" lvl="0" marL="0" rtl="0" algn="ctr">
              <a:lnSpc>
                <a:spcPct val="90000"/>
              </a:lnSpc>
              <a:spcBef>
                <a:spcPts val="1000"/>
              </a:spcBef>
              <a:spcAft>
                <a:spcPts val="0"/>
              </a:spcAft>
              <a:buSzPts val="1332"/>
              <a:buNone/>
            </a:pPr>
            <a:r>
              <a:rPr b="1" lang="en-US" sz="1665"/>
              <a:t>Nathan Nguyen, PharmD</a:t>
            </a:r>
            <a:endParaRPr b="1" sz="1665"/>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19">
            <a:hlinkClick r:id="rId3"/>
          </p:cNvPr>
          <p:cNvPicPr preferRelativeResize="0"/>
          <p:nvPr/>
        </p:nvPicPr>
        <p:blipFill>
          <a:blip r:embed="rId4">
            <a:alphaModFix/>
          </a:blip>
          <a:stretch>
            <a:fillRect/>
          </a:stretch>
        </p:blipFill>
        <p:spPr>
          <a:xfrm>
            <a:off x="1859375" y="1297875"/>
            <a:ext cx="7620001" cy="4262250"/>
          </a:xfrm>
          <a:prstGeom prst="rect">
            <a:avLst/>
          </a:prstGeom>
          <a:noFill/>
          <a:ln>
            <a:noFill/>
          </a:ln>
        </p:spPr>
      </p:pic>
      <p:pic>
        <p:nvPicPr>
          <p:cNvPr id="155" name="Google Shape;155;p19"/>
          <p:cNvPicPr preferRelativeResize="0"/>
          <p:nvPr/>
        </p:nvPicPr>
        <p:blipFill>
          <a:blip r:embed="rId5">
            <a:alphaModFix/>
          </a:blip>
          <a:stretch>
            <a:fillRect/>
          </a:stretch>
        </p:blipFill>
        <p:spPr>
          <a:xfrm rot="-1198156">
            <a:off x="4167100" y="1646800"/>
            <a:ext cx="609675" cy="7988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5400"/>
              <a:buFont typeface="Trebuchet MS"/>
              <a:buNone/>
            </a:pPr>
            <a:r>
              <a:rPr b="1" lang="en-US" sz="5400">
                <a:solidFill>
                  <a:srgbClr val="0000FF"/>
                </a:solidFill>
              </a:rPr>
              <a:t>Objectives</a:t>
            </a:r>
            <a:endParaRPr/>
          </a:p>
        </p:txBody>
      </p:sp>
      <p:sp>
        <p:nvSpPr>
          <p:cNvPr id="162" name="Google Shape;162;p20"/>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920"/>
              <a:buChar char="►"/>
            </a:pPr>
            <a:r>
              <a:rPr b="1" lang="en-US" sz="2400"/>
              <a:t>Identify the incidence and impact of adverse events</a:t>
            </a:r>
            <a:endParaRPr/>
          </a:p>
          <a:p>
            <a:pPr indent="-342900" lvl="0" marL="342900" rtl="0" algn="l">
              <a:lnSpc>
                <a:spcPct val="90000"/>
              </a:lnSpc>
              <a:spcBef>
                <a:spcPts val="1000"/>
              </a:spcBef>
              <a:spcAft>
                <a:spcPts val="0"/>
              </a:spcAft>
              <a:buSzPts val="1920"/>
              <a:buChar char="►"/>
            </a:pPr>
            <a:r>
              <a:rPr b="1" lang="en-US" sz="2400"/>
              <a:t>Review the definitions of an adverse event</a:t>
            </a:r>
            <a:endParaRPr/>
          </a:p>
          <a:p>
            <a:pPr indent="-342900" lvl="0" marL="342900" rtl="0" algn="l">
              <a:lnSpc>
                <a:spcPct val="90000"/>
              </a:lnSpc>
              <a:spcBef>
                <a:spcPts val="1000"/>
              </a:spcBef>
              <a:spcAft>
                <a:spcPts val="0"/>
              </a:spcAft>
              <a:buSzPts val="1920"/>
              <a:buChar char="►"/>
            </a:pPr>
            <a:r>
              <a:rPr b="1" lang="en-US" sz="2400"/>
              <a:t>Understand the adverse event reporting process for medicinal products </a:t>
            </a:r>
            <a:endParaRPr/>
          </a:p>
          <a:p>
            <a:pPr indent="-342900" lvl="0" marL="342900" rtl="0" algn="l">
              <a:lnSpc>
                <a:spcPct val="90000"/>
              </a:lnSpc>
              <a:spcBef>
                <a:spcPts val="1000"/>
              </a:spcBef>
              <a:spcAft>
                <a:spcPts val="0"/>
              </a:spcAft>
              <a:buSzPts val="1920"/>
              <a:buChar char="►"/>
            </a:pPr>
            <a:r>
              <a:rPr b="1" lang="en-US" sz="2400"/>
              <a:t>Discuss HIPAA’s regulation regarding adverse event reporting</a:t>
            </a:r>
            <a:endParaRPr/>
          </a:p>
          <a:p>
            <a:pPr indent="-342900" lvl="0" marL="342900" rtl="0" algn="l">
              <a:lnSpc>
                <a:spcPct val="90000"/>
              </a:lnSpc>
              <a:spcBef>
                <a:spcPts val="1000"/>
              </a:spcBef>
              <a:spcAft>
                <a:spcPts val="0"/>
              </a:spcAft>
              <a:buSzPts val="1920"/>
              <a:buChar char="►"/>
            </a:pPr>
            <a:r>
              <a:rPr b="1" lang="en-US" sz="2400"/>
              <a:t>Understand the methods utilized to determine causality</a:t>
            </a:r>
            <a:endParaRPr/>
          </a:p>
          <a:p>
            <a:pPr indent="-342900" lvl="0" marL="342900" rtl="0" algn="l">
              <a:lnSpc>
                <a:spcPct val="90000"/>
              </a:lnSpc>
              <a:spcBef>
                <a:spcPts val="1000"/>
              </a:spcBef>
              <a:spcAft>
                <a:spcPts val="0"/>
              </a:spcAft>
              <a:buSzPts val="1920"/>
              <a:buChar char="►"/>
            </a:pPr>
            <a:r>
              <a:rPr b="1" lang="en-US" sz="2400"/>
              <a:t>Review the adverse event reporting process for vaccines and other products</a:t>
            </a:r>
            <a:endParaRPr/>
          </a:p>
          <a:p>
            <a:pPr indent="-251460" lvl="0" marL="342900" rtl="0" algn="l">
              <a:lnSpc>
                <a:spcPct val="90000"/>
              </a:lnSpc>
              <a:spcBef>
                <a:spcPts val="1000"/>
              </a:spcBef>
              <a:spcAft>
                <a:spcPts val="0"/>
              </a:spcAft>
              <a:buSzPts val="144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4000"/>
              <a:buFont typeface="Trebuchet MS"/>
              <a:buNone/>
            </a:pPr>
            <a:r>
              <a:rPr b="1" lang="en-US" sz="4000">
                <a:solidFill>
                  <a:srgbClr val="0000FF"/>
                </a:solidFill>
              </a:rPr>
              <a:t>Drug Development Process-Phase IV</a:t>
            </a:r>
            <a:endParaRPr/>
          </a:p>
        </p:txBody>
      </p:sp>
      <p:sp>
        <p:nvSpPr>
          <p:cNvPr id="169" name="Google Shape;169;p21"/>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00"/>
              <a:buChar char="►"/>
            </a:pPr>
            <a:r>
              <a:rPr b="1" lang="en-US" sz="2000"/>
              <a:t>Post-marketing surveillance</a:t>
            </a:r>
            <a:endParaRPr/>
          </a:p>
          <a:p>
            <a:pPr indent="-285750" lvl="1" marL="742950" rtl="0" algn="l">
              <a:spcBef>
                <a:spcPts val="1000"/>
              </a:spcBef>
              <a:spcAft>
                <a:spcPts val="0"/>
              </a:spcAft>
              <a:buSzPts val="1600"/>
              <a:buChar char="►"/>
            </a:pPr>
            <a:r>
              <a:rPr b="1" lang="en-US" sz="2000"/>
              <a:t>Identify adverse events that did not appear during the drug approval process</a:t>
            </a:r>
            <a:endParaRPr/>
          </a:p>
          <a:p>
            <a:pPr indent="-285750" lvl="1" marL="742950" rtl="0" algn="l">
              <a:spcBef>
                <a:spcPts val="1000"/>
              </a:spcBef>
              <a:spcAft>
                <a:spcPts val="0"/>
              </a:spcAft>
              <a:buSzPts val="1600"/>
              <a:buChar char="►"/>
            </a:pPr>
            <a:r>
              <a:rPr b="1" lang="en-US" sz="2000"/>
              <a:t>Drug interactions</a:t>
            </a:r>
            <a:endParaRPr/>
          </a:p>
          <a:p>
            <a:pPr indent="-285750" lvl="1" marL="742950" rtl="0" algn="l">
              <a:spcBef>
                <a:spcPts val="1000"/>
              </a:spcBef>
              <a:spcAft>
                <a:spcPts val="0"/>
              </a:spcAft>
              <a:buSzPts val="1600"/>
              <a:buChar char="►"/>
            </a:pPr>
            <a:r>
              <a:rPr b="1" lang="en-US" sz="2000"/>
              <a:t>Adverse events in special groups</a:t>
            </a:r>
            <a:endParaRPr/>
          </a:p>
          <a:p>
            <a:pPr indent="-285750" lvl="1" marL="742950" rtl="0" algn="l">
              <a:spcBef>
                <a:spcPts val="1000"/>
              </a:spcBef>
              <a:spcAft>
                <a:spcPts val="0"/>
              </a:spcAft>
              <a:buSzPts val="1600"/>
              <a:buChar char="►"/>
            </a:pPr>
            <a:r>
              <a:rPr b="1" lang="en-US" sz="2000"/>
              <a:t>Latent effects</a:t>
            </a:r>
            <a:endParaRPr/>
          </a:p>
          <a:p>
            <a:pPr indent="-342900" lvl="0" marL="342900" rtl="0" algn="l">
              <a:spcBef>
                <a:spcPts val="1000"/>
              </a:spcBef>
              <a:spcAft>
                <a:spcPts val="0"/>
              </a:spcAft>
              <a:buSzPts val="1600"/>
              <a:buChar char="►"/>
            </a:pPr>
            <a:r>
              <a:rPr b="1" lang="en-US" sz="2000"/>
              <a:t>No later than 18 months after approval-</a:t>
            </a:r>
            <a:r>
              <a:rPr b="1" lang="en-US" sz="2000"/>
              <a:t>Center for Drug Evaluation and Research </a:t>
            </a:r>
            <a:r>
              <a:rPr b="1" lang="en-US" sz="2000"/>
              <a:t>reviews the relevant data, summarize findings and develop a plan to further investigate potential new safety issues for products (if necessary)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2"/>
          <p:cNvSpPr txBox="1"/>
          <p:nvPr>
            <p:ph type="title"/>
          </p:nvPr>
        </p:nvSpPr>
        <p:spPr>
          <a:xfrm>
            <a:off x="677334" y="609600"/>
            <a:ext cx="8596800" cy="1320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5400"/>
              <a:buFont typeface="Trebuchet MS"/>
              <a:buNone/>
            </a:pPr>
            <a:r>
              <a:rPr b="1" lang="en-US" sz="5400">
                <a:solidFill>
                  <a:srgbClr val="0000FF"/>
                </a:solidFill>
              </a:rPr>
              <a:t>Incidence</a:t>
            </a:r>
            <a:endParaRPr>
              <a:solidFill>
                <a:srgbClr val="0000FF"/>
              </a:solidFill>
            </a:endParaRPr>
          </a:p>
        </p:txBody>
      </p:sp>
      <p:sp>
        <p:nvSpPr>
          <p:cNvPr id="176" name="Google Shape;176;p22"/>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00"/>
              <a:buChar char="►"/>
            </a:pPr>
            <a:r>
              <a:rPr lang="en-US" sz="2000"/>
              <a:t>ADRs account for about 5% to 15% of all hospital admissions</a:t>
            </a:r>
            <a:endParaRPr/>
          </a:p>
          <a:p>
            <a:pPr indent="-285750" lvl="1" marL="742950" rtl="0" algn="l">
              <a:spcBef>
                <a:spcPts val="1000"/>
              </a:spcBef>
              <a:spcAft>
                <a:spcPts val="0"/>
              </a:spcAft>
              <a:buSzPts val="1600"/>
              <a:buChar char="►"/>
            </a:pPr>
            <a:r>
              <a:rPr lang="en-US" sz="2000"/>
              <a:t>lead to a significant increase in morbidity and mortality</a:t>
            </a:r>
            <a:endParaRPr/>
          </a:p>
          <a:p>
            <a:pPr indent="-342900" lvl="0" marL="342900" rtl="0" algn="l">
              <a:spcBef>
                <a:spcPts val="1000"/>
              </a:spcBef>
              <a:spcAft>
                <a:spcPts val="0"/>
              </a:spcAft>
              <a:buSzPts val="1600"/>
              <a:buChar char="►"/>
            </a:pPr>
            <a:r>
              <a:rPr lang="en-US" sz="2000"/>
              <a:t>In 2016, there were over 59,000 deaths due to drug-induced causes</a:t>
            </a:r>
            <a:endParaRPr/>
          </a:p>
          <a:p>
            <a:pPr indent="-285750" lvl="1" marL="742950" rtl="0" algn="l">
              <a:spcBef>
                <a:spcPts val="1000"/>
              </a:spcBef>
              <a:spcAft>
                <a:spcPts val="0"/>
              </a:spcAft>
              <a:buSzPts val="1600"/>
              <a:buChar char="►"/>
            </a:pPr>
            <a:r>
              <a:rPr lang="en-US" sz="2000"/>
              <a:t>ADRs among the 10 leading causes of death in the United States</a:t>
            </a:r>
            <a:endParaRPr/>
          </a:p>
          <a:p>
            <a:pPr indent="-342900" lvl="0" marL="342900" rtl="0" algn="l">
              <a:spcBef>
                <a:spcPts val="1000"/>
              </a:spcBef>
              <a:spcAft>
                <a:spcPts val="0"/>
              </a:spcAft>
              <a:buSzPts val="1600"/>
              <a:buChar char="►"/>
            </a:pPr>
            <a:r>
              <a:rPr lang="en-US" sz="2000"/>
              <a:t>ADRs result in an annual cost of $5 to $7 billion to the U.S. health care system</a:t>
            </a:r>
            <a:endParaRPr/>
          </a:p>
          <a:p>
            <a:pPr indent="-285750" lvl="1" marL="742950" rtl="0" algn="l">
              <a:spcBef>
                <a:spcPts val="1000"/>
              </a:spcBef>
              <a:spcAft>
                <a:spcPts val="0"/>
              </a:spcAft>
              <a:buSzPts val="1600"/>
              <a:buChar char="►"/>
            </a:pPr>
            <a:r>
              <a:rPr lang="en-US" sz="2000"/>
              <a:t>After experiencing an ADR, patients spend an average of 8 to 12 days longer in the hospital</a:t>
            </a:r>
            <a:endParaRPr/>
          </a:p>
          <a:p>
            <a:pPr indent="-285750" lvl="1" marL="742950" rtl="0" algn="l">
              <a:spcBef>
                <a:spcPts val="1000"/>
              </a:spcBef>
              <a:spcAft>
                <a:spcPts val="0"/>
              </a:spcAft>
              <a:buSzPts val="1600"/>
              <a:buChar char="►"/>
            </a:pPr>
            <a:r>
              <a:rPr lang="en-US" sz="2000"/>
              <a:t>increasing the cost of their hospitalization by $16,000 to $24,000</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5400"/>
              <a:buFont typeface="Trebuchet MS"/>
              <a:buNone/>
            </a:pPr>
            <a:r>
              <a:rPr b="1" lang="en-US" sz="5400">
                <a:solidFill>
                  <a:srgbClr val="0000FF"/>
                </a:solidFill>
              </a:rPr>
              <a:t>Definitions</a:t>
            </a:r>
            <a:endParaRPr/>
          </a:p>
        </p:txBody>
      </p:sp>
      <p:sp>
        <p:nvSpPr>
          <p:cNvPr id="183" name="Google Shape;183;p23"/>
          <p:cNvSpPr txBox="1"/>
          <p:nvPr>
            <p:ph idx="1" type="body"/>
          </p:nvPr>
        </p:nvSpPr>
        <p:spPr>
          <a:xfrm>
            <a:off x="677334" y="1543051"/>
            <a:ext cx="8596668" cy="520065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440"/>
              <a:buChar char="►"/>
            </a:pPr>
            <a:r>
              <a:rPr b="1" lang="en-US"/>
              <a:t>World Health Organization</a:t>
            </a:r>
            <a:endParaRPr/>
          </a:p>
          <a:p>
            <a:pPr indent="-285750" lvl="1" marL="742950" rtl="0" algn="l">
              <a:spcBef>
                <a:spcPts val="1000"/>
              </a:spcBef>
              <a:spcAft>
                <a:spcPts val="0"/>
              </a:spcAft>
              <a:buSzPts val="1440"/>
              <a:buChar char="►"/>
            </a:pPr>
            <a:r>
              <a:rPr b="1" lang="en-US" sz="1800"/>
              <a:t>“An adverse drug reaction is a response to a medicinal product which is noxious and unintended and which occurs at doses normally used in man for the prophylaxis, diagnosis or therapy of disease or for the restoration, correction or modification of physiological function”</a:t>
            </a:r>
            <a:endParaRPr/>
          </a:p>
          <a:p>
            <a:pPr indent="-342900" lvl="0" marL="342900" rtl="0" algn="l">
              <a:spcBef>
                <a:spcPts val="1000"/>
              </a:spcBef>
              <a:spcAft>
                <a:spcPts val="0"/>
              </a:spcAft>
              <a:buSzPts val="1440"/>
              <a:buChar char="►"/>
            </a:pPr>
            <a:r>
              <a:rPr b="1" lang="en-US"/>
              <a:t>ASHP</a:t>
            </a:r>
            <a:endParaRPr/>
          </a:p>
          <a:p>
            <a:pPr indent="-285750" lvl="1" marL="742950" rtl="0" algn="l">
              <a:spcBef>
                <a:spcPts val="1000"/>
              </a:spcBef>
              <a:spcAft>
                <a:spcPts val="0"/>
              </a:spcAft>
              <a:buSzPts val="1440"/>
              <a:buChar char="►"/>
            </a:pPr>
            <a:r>
              <a:rPr b="1" lang="en-US" sz="1800"/>
              <a:t>“significant ADR as any unexpected, unintended, undesired, or excessive response to a drug that: Requires discontinuing the drug (therapeutic or diagnostic); Requires changing the drug therapy; Requires modifying the dose (except for minor dosage adjustments); Necessitates admission to a hospital; Prolongs stay in a health care facility; Necessitates supportive treatment; Significantly complicates diagnosis; Negatively affects prognosis; Results in temporary or permanent harm, disability, or death”</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4800"/>
              <a:buFont typeface="Trebuchet MS"/>
              <a:buNone/>
            </a:pPr>
            <a:r>
              <a:rPr b="1" lang="en-US" sz="4800">
                <a:solidFill>
                  <a:srgbClr val="0000FF"/>
                </a:solidFill>
              </a:rPr>
              <a:t>Definitions (cont’d)</a:t>
            </a:r>
            <a:endParaRPr/>
          </a:p>
        </p:txBody>
      </p:sp>
      <p:sp>
        <p:nvSpPr>
          <p:cNvPr id="190" name="Google Shape;190;p24"/>
          <p:cNvSpPr txBox="1"/>
          <p:nvPr>
            <p:ph idx="1" type="body"/>
          </p:nvPr>
        </p:nvSpPr>
        <p:spPr>
          <a:xfrm>
            <a:off x="677334" y="1296365"/>
            <a:ext cx="8596668" cy="5139159"/>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776"/>
              <a:buChar char="►"/>
            </a:pPr>
            <a:r>
              <a:rPr b="1" lang="en-US" sz="2220"/>
              <a:t>FDA</a:t>
            </a:r>
            <a:endParaRPr/>
          </a:p>
          <a:p>
            <a:pPr indent="-285750" lvl="1" marL="742950" rtl="0" algn="l">
              <a:lnSpc>
                <a:spcPct val="90000"/>
              </a:lnSpc>
              <a:spcBef>
                <a:spcPts val="1000"/>
              </a:spcBef>
              <a:spcAft>
                <a:spcPts val="0"/>
              </a:spcAft>
              <a:buSzPts val="1776"/>
              <a:buChar char="►"/>
            </a:pPr>
            <a:r>
              <a:rPr b="1" lang="en-US" sz="2220"/>
              <a:t>“any untoward medical occurrence associated with the use of a drug in humans, whether or not considered drug related”</a:t>
            </a:r>
            <a:endParaRPr/>
          </a:p>
          <a:p>
            <a:pPr indent="-285750" lvl="1" marL="742950" rtl="0" algn="l">
              <a:lnSpc>
                <a:spcPct val="90000"/>
              </a:lnSpc>
              <a:spcBef>
                <a:spcPts val="1000"/>
              </a:spcBef>
              <a:spcAft>
                <a:spcPts val="0"/>
              </a:spcAft>
              <a:buSzPts val="1776"/>
              <a:buChar char="►"/>
            </a:pPr>
            <a:r>
              <a:rPr b="1" lang="en-US" sz="2220"/>
              <a:t>May apply to the use of a drug, medical device, or biological product in humans and includes the following:</a:t>
            </a:r>
            <a:endParaRPr/>
          </a:p>
          <a:p>
            <a:pPr indent="-228600" lvl="2" marL="1143000" rtl="0" algn="l">
              <a:lnSpc>
                <a:spcPct val="90000"/>
              </a:lnSpc>
              <a:spcBef>
                <a:spcPts val="1000"/>
              </a:spcBef>
              <a:spcAft>
                <a:spcPts val="0"/>
              </a:spcAft>
              <a:buSzPts val="1776"/>
              <a:buChar char="►"/>
            </a:pPr>
            <a:r>
              <a:rPr b="1" lang="en-US" sz="2220"/>
              <a:t>An adverse event occurring in the course of the use of a product in professional practice</a:t>
            </a:r>
            <a:endParaRPr/>
          </a:p>
          <a:p>
            <a:pPr indent="-228600" lvl="2" marL="1143000" rtl="0" algn="l">
              <a:lnSpc>
                <a:spcPct val="90000"/>
              </a:lnSpc>
              <a:spcBef>
                <a:spcPts val="1000"/>
              </a:spcBef>
              <a:spcAft>
                <a:spcPts val="0"/>
              </a:spcAft>
              <a:buSzPts val="1776"/>
              <a:buChar char="►"/>
            </a:pPr>
            <a:r>
              <a:rPr b="1" lang="en-US" sz="2220"/>
              <a:t>An adverse event occurring from overdose or misuse whether accidental or intentional</a:t>
            </a:r>
            <a:endParaRPr/>
          </a:p>
          <a:p>
            <a:pPr indent="-228600" lvl="2" marL="1143000" rtl="0" algn="l">
              <a:lnSpc>
                <a:spcPct val="90000"/>
              </a:lnSpc>
              <a:spcBef>
                <a:spcPts val="1000"/>
              </a:spcBef>
              <a:spcAft>
                <a:spcPts val="0"/>
              </a:spcAft>
              <a:buSzPts val="1776"/>
              <a:buChar char="►"/>
            </a:pPr>
            <a:r>
              <a:rPr b="1" lang="en-US" sz="2220"/>
              <a:t>An adverse event occurring from abuse or withdrawal</a:t>
            </a:r>
            <a:endParaRPr/>
          </a:p>
          <a:p>
            <a:pPr indent="-228600" lvl="2" marL="1143000" rtl="0" algn="l">
              <a:lnSpc>
                <a:spcPct val="90000"/>
              </a:lnSpc>
              <a:spcBef>
                <a:spcPts val="1000"/>
              </a:spcBef>
              <a:spcAft>
                <a:spcPts val="0"/>
              </a:spcAft>
              <a:buSzPts val="1776"/>
              <a:buChar char="►"/>
            </a:pPr>
            <a:r>
              <a:rPr b="1" lang="en-US" sz="2220"/>
              <a:t>Failure of expected pharmacological action or performance</a:t>
            </a:r>
            <a:endParaRPr/>
          </a:p>
          <a:p>
            <a:pPr indent="0" lvl="2" marL="914400" rtl="0" algn="l">
              <a:lnSpc>
                <a:spcPct val="90000"/>
              </a:lnSpc>
              <a:spcBef>
                <a:spcPts val="1000"/>
              </a:spcBef>
              <a:spcAft>
                <a:spcPts val="0"/>
              </a:spcAft>
              <a:buSzPts val="1776"/>
              <a:buNone/>
            </a:pPr>
            <a:r>
              <a:t/>
            </a:r>
            <a:endParaRPr b="1" sz="2220"/>
          </a:p>
          <a:p>
            <a:pPr indent="-162814" lvl="2" marL="1143000" rtl="0" algn="l">
              <a:lnSpc>
                <a:spcPct val="90000"/>
              </a:lnSpc>
              <a:spcBef>
                <a:spcPts val="1000"/>
              </a:spcBef>
              <a:spcAft>
                <a:spcPts val="0"/>
              </a:spcAft>
              <a:buSzPts val="1036"/>
              <a:buNone/>
            </a:pPr>
            <a:r>
              <a:t/>
            </a:r>
            <a:endParaRPr sz="1295"/>
          </a:p>
          <a:p>
            <a:pPr indent="-258318" lvl="0" marL="342900" rtl="0" algn="l">
              <a:lnSpc>
                <a:spcPct val="90000"/>
              </a:lnSpc>
              <a:spcBef>
                <a:spcPts val="1000"/>
              </a:spcBef>
              <a:spcAft>
                <a:spcPts val="0"/>
              </a:spcAft>
              <a:buSzPts val="1332"/>
              <a:buNone/>
            </a:pPr>
            <a:r>
              <a:t/>
            </a:r>
            <a:endParaRPr sz="1665"/>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5400"/>
              <a:buFont typeface="Trebuchet MS"/>
              <a:buNone/>
            </a:pPr>
            <a:r>
              <a:rPr b="1" lang="en-US" sz="5400">
                <a:solidFill>
                  <a:srgbClr val="0000FF"/>
                </a:solidFill>
              </a:rPr>
              <a:t>Definitions (cont’d)</a:t>
            </a:r>
            <a:endParaRPr/>
          </a:p>
        </p:txBody>
      </p:sp>
      <p:sp>
        <p:nvSpPr>
          <p:cNvPr id="196" name="Google Shape;196;p25"/>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632"/>
              <a:buChar char="►"/>
            </a:pPr>
            <a:r>
              <a:rPr b="1" lang="en-US" sz="2040"/>
              <a:t>Special Situation Event (SSE): Event which may not necessarily meet the true definition of an AE but is still documented and treated as an AE:</a:t>
            </a:r>
            <a:endParaRPr/>
          </a:p>
          <a:p>
            <a:pPr indent="0" lvl="0" marL="0" rtl="0" algn="l">
              <a:lnSpc>
                <a:spcPct val="80000"/>
              </a:lnSpc>
              <a:spcBef>
                <a:spcPts val="1000"/>
              </a:spcBef>
              <a:spcAft>
                <a:spcPts val="0"/>
              </a:spcAft>
              <a:buSzPts val="1632"/>
              <a:buNone/>
            </a:pPr>
            <a:r>
              <a:rPr b="1" lang="en-US" sz="2040"/>
              <a:t>	-Pregnancy exposure</a:t>
            </a:r>
            <a:endParaRPr/>
          </a:p>
          <a:p>
            <a:pPr indent="0" lvl="0" marL="0" rtl="0" algn="l">
              <a:lnSpc>
                <a:spcPct val="80000"/>
              </a:lnSpc>
              <a:spcBef>
                <a:spcPts val="1000"/>
              </a:spcBef>
              <a:spcAft>
                <a:spcPts val="0"/>
              </a:spcAft>
              <a:buSzPts val="1632"/>
              <a:buNone/>
            </a:pPr>
            <a:r>
              <a:rPr b="1" lang="en-US" sz="2040"/>
              <a:t>	-Lactation exposure (child exposure)</a:t>
            </a:r>
            <a:endParaRPr/>
          </a:p>
          <a:p>
            <a:pPr indent="0" lvl="0" marL="0" rtl="0" algn="l">
              <a:lnSpc>
                <a:spcPct val="80000"/>
              </a:lnSpc>
              <a:spcBef>
                <a:spcPts val="1000"/>
              </a:spcBef>
              <a:spcAft>
                <a:spcPts val="0"/>
              </a:spcAft>
              <a:buSzPts val="1632"/>
              <a:buNone/>
            </a:pPr>
            <a:r>
              <a:rPr b="1" lang="en-US" sz="2040"/>
              <a:t>	-Medication error</a:t>
            </a:r>
            <a:endParaRPr/>
          </a:p>
          <a:p>
            <a:pPr indent="0" lvl="0" marL="0" rtl="0" algn="l">
              <a:lnSpc>
                <a:spcPct val="80000"/>
              </a:lnSpc>
              <a:spcBef>
                <a:spcPts val="1000"/>
              </a:spcBef>
              <a:spcAft>
                <a:spcPts val="0"/>
              </a:spcAft>
              <a:buSzPts val="1632"/>
              <a:buNone/>
            </a:pPr>
            <a:r>
              <a:rPr b="1" lang="en-US" sz="2040"/>
              <a:t>	-Drug-drug or drug-food interactions</a:t>
            </a:r>
            <a:endParaRPr/>
          </a:p>
          <a:p>
            <a:pPr indent="0" lvl="0" marL="0" rtl="0" algn="l">
              <a:lnSpc>
                <a:spcPct val="80000"/>
              </a:lnSpc>
              <a:spcBef>
                <a:spcPts val="1000"/>
              </a:spcBef>
              <a:spcAft>
                <a:spcPts val="0"/>
              </a:spcAft>
              <a:buSzPts val="1632"/>
              <a:buNone/>
            </a:pPr>
            <a:r>
              <a:rPr b="1" lang="en-US" sz="2040"/>
              <a:t>	-Occupational exposure</a:t>
            </a:r>
            <a:endParaRPr/>
          </a:p>
          <a:p>
            <a:pPr indent="0" lvl="0" marL="0" rtl="0" algn="l">
              <a:lnSpc>
                <a:spcPct val="80000"/>
              </a:lnSpc>
              <a:spcBef>
                <a:spcPts val="1000"/>
              </a:spcBef>
              <a:spcAft>
                <a:spcPts val="0"/>
              </a:spcAft>
              <a:buSzPts val="1632"/>
              <a:buNone/>
            </a:pPr>
            <a:r>
              <a:rPr b="1" lang="en-US" sz="2040"/>
              <a:t>	-Off-label (unapproved indication) use</a:t>
            </a:r>
            <a:endParaRPr/>
          </a:p>
          <a:p>
            <a:pPr indent="0" lvl="0" marL="0" rtl="0" algn="l">
              <a:lnSpc>
                <a:spcPct val="80000"/>
              </a:lnSpc>
              <a:spcBef>
                <a:spcPts val="1000"/>
              </a:spcBef>
              <a:spcAft>
                <a:spcPts val="0"/>
              </a:spcAft>
              <a:buSzPts val="1224"/>
              <a:buNone/>
            </a:pPr>
            <a:r>
              <a:rPr lang="en-US" sz="1530"/>
              <a:t>	</a:t>
            </a:r>
            <a:endParaRPr/>
          </a:p>
          <a:p>
            <a:pPr indent="0" lvl="0" marL="0" rtl="0" algn="l">
              <a:lnSpc>
                <a:spcPct val="80000"/>
              </a:lnSpc>
              <a:spcBef>
                <a:spcPts val="1000"/>
              </a:spcBef>
              <a:spcAft>
                <a:spcPts val="0"/>
              </a:spcAft>
              <a:buSzPts val="1224"/>
              <a:buNone/>
            </a:pPr>
            <a:r>
              <a:rPr lang="en-US" sz="1530"/>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5400"/>
              <a:buFont typeface="Trebuchet MS"/>
              <a:buNone/>
            </a:pPr>
            <a:r>
              <a:rPr b="1" lang="en-US" sz="5400">
                <a:solidFill>
                  <a:srgbClr val="0000FF"/>
                </a:solidFill>
              </a:rPr>
              <a:t>Definitions (cont’d)</a:t>
            </a:r>
            <a:endParaRPr/>
          </a:p>
        </p:txBody>
      </p:sp>
      <p:sp>
        <p:nvSpPr>
          <p:cNvPr id="203" name="Google Shape;203;p26"/>
          <p:cNvSpPr txBox="1"/>
          <p:nvPr>
            <p:ph idx="1" type="body"/>
          </p:nvPr>
        </p:nvSpPr>
        <p:spPr>
          <a:xfrm>
            <a:off x="508000" y="1422400"/>
            <a:ext cx="9194800" cy="4937761"/>
          </a:xfrm>
          <a:prstGeom prst="rect">
            <a:avLst/>
          </a:prstGeom>
          <a:noFill/>
          <a:ln>
            <a:noFill/>
          </a:ln>
        </p:spPr>
        <p:txBody>
          <a:bodyPr anchorCtr="0" anchor="t" bIns="45700" lIns="91425" spcFirstLastPara="1" rIns="91425" wrap="square" tIns="45700">
            <a:noAutofit/>
          </a:bodyPr>
          <a:lstStyle/>
          <a:p>
            <a:pPr indent="-285750" lvl="1" marL="742950" rtl="0" algn="l">
              <a:lnSpc>
                <a:spcPct val="90000"/>
              </a:lnSpc>
              <a:spcBef>
                <a:spcPts val="0"/>
              </a:spcBef>
              <a:spcAft>
                <a:spcPts val="0"/>
              </a:spcAft>
              <a:buSzPts val="1200"/>
              <a:buChar char="►"/>
            </a:pPr>
            <a:r>
              <a:rPr b="1" lang="en-US" sz="1500"/>
              <a:t>Serious Adverse events:</a:t>
            </a:r>
            <a:endParaRPr/>
          </a:p>
          <a:p>
            <a:pPr indent="-228600" lvl="2" marL="1143000" rtl="0" algn="l">
              <a:lnSpc>
                <a:spcPct val="90000"/>
              </a:lnSpc>
              <a:spcBef>
                <a:spcPts val="1000"/>
              </a:spcBef>
              <a:spcAft>
                <a:spcPts val="0"/>
              </a:spcAft>
              <a:buSzPts val="1200"/>
              <a:buChar char="►"/>
            </a:pPr>
            <a:r>
              <a:rPr b="1" lang="en-US" sz="1500"/>
              <a:t>Death</a:t>
            </a:r>
            <a:endParaRPr/>
          </a:p>
          <a:p>
            <a:pPr indent="-228600" lvl="2" marL="1143000" rtl="0" algn="l">
              <a:lnSpc>
                <a:spcPct val="90000"/>
              </a:lnSpc>
              <a:spcBef>
                <a:spcPts val="1000"/>
              </a:spcBef>
              <a:spcAft>
                <a:spcPts val="0"/>
              </a:spcAft>
              <a:buSzPts val="1200"/>
              <a:buChar char="►"/>
            </a:pPr>
            <a:r>
              <a:rPr b="1" lang="en-US" sz="1500"/>
              <a:t>Life-threatening: Report if suspected that the patient was at substantial risk of dying at the time of the adverse event, or use or continued use of the device or other medical product might have resulted in the death of the patient</a:t>
            </a:r>
            <a:endParaRPr/>
          </a:p>
          <a:p>
            <a:pPr indent="-228600" lvl="2" marL="1143000" rtl="0" algn="l">
              <a:lnSpc>
                <a:spcPct val="90000"/>
              </a:lnSpc>
              <a:spcBef>
                <a:spcPts val="1000"/>
              </a:spcBef>
              <a:spcAft>
                <a:spcPts val="0"/>
              </a:spcAft>
              <a:buSzPts val="1200"/>
              <a:buChar char="►"/>
            </a:pPr>
            <a:r>
              <a:rPr b="1" lang="en-US" sz="1500"/>
              <a:t>Hospitalization (initial or prolonged)</a:t>
            </a:r>
            <a:endParaRPr/>
          </a:p>
          <a:p>
            <a:pPr indent="-228600" lvl="2" marL="1143000" rtl="0" algn="l">
              <a:lnSpc>
                <a:spcPct val="90000"/>
              </a:lnSpc>
              <a:spcBef>
                <a:spcPts val="1000"/>
              </a:spcBef>
              <a:spcAft>
                <a:spcPts val="0"/>
              </a:spcAft>
              <a:buSzPts val="1200"/>
              <a:buChar char="►"/>
            </a:pPr>
            <a:r>
              <a:rPr b="1" lang="en-US" sz="1500"/>
              <a:t>Disability or Permanent Damage</a:t>
            </a:r>
            <a:endParaRPr/>
          </a:p>
          <a:p>
            <a:pPr indent="-228600" lvl="2" marL="1143000" rtl="0" algn="l">
              <a:lnSpc>
                <a:spcPct val="90000"/>
              </a:lnSpc>
              <a:spcBef>
                <a:spcPts val="1000"/>
              </a:spcBef>
              <a:spcAft>
                <a:spcPts val="0"/>
              </a:spcAft>
              <a:buSzPts val="1200"/>
              <a:buChar char="►"/>
            </a:pPr>
            <a:r>
              <a:rPr b="1" lang="en-US" sz="1500"/>
              <a:t>Congenital Anomaly/Birth Defect</a:t>
            </a:r>
            <a:endParaRPr/>
          </a:p>
          <a:p>
            <a:pPr indent="-228600" lvl="2" marL="1143000" rtl="0" algn="l">
              <a:lnSpc>
                <a:spcPct val="90000"/>
              </a:lnSpc>
              <a:spcBef>
                <a:spcPts val="1000"/>
              </a:spcBef>
              <a:spcAft>
                <a:spcPts val="0"/>
              </a:spcAft>
              <a:buSzPts val="1200"/>
              <a:buChar char="►"/>
            </a:pPr>
            <a:r>
              <a:rPr b="1" lang="en-US" sz="1500"/>
              <a:t>Required Intervention to Prevent Permanent Impairment or Damage (Devices)</a:t>
            </a:r>
            <a:endParaRPr/>
          </a:p>
          <a:p>
            <a:pPr indent="-228600" lvl="2" marL="1143000" rtl="0" algn="l">
              <a:lnSpc>
                <a:spcPct val="90000"/>
              </a:lnSpc>
              <a:spcBef>
                <a:spcPts val="1000"/>
              </a:spcBef>
              <a:spcAft>
                <a:spcPts val="0"/>
              </a:spcAft>
              <a:buSzPts val="1200"/>
              <a:buChar char="►"/>
            </a:pPr>
            <a:r>
              <a:rPr b="1" lang="en-US" sz="1500"/>
              <a:t>Other Serious (Important Medical Events): the event may jeopardize the patient and may require medical or surgical intervention (treatment) to prevent one of the other outcomes (e.g. allergic bronchospasm (a serious problem with breathing) requiring treatment in an emergency room, serious blood dyscrasias (blood disorders) or seizures/convulsions that do not result in hospitalization; drug dependence or drug abuse would also be examples of important medical events)</a:t>
            </a:r>
            <a:endParaRPr/>
          </a:p>
          <a:p>
            <a:pPr indent="0" lvl="2" marL="914400" rtl="0" algn="l">
              <a:lnSpc>
                <a:spcPct val="90000"/>
              </a:lnSpc>
              <a:spcBef>
                <a:spcPts val="1000"/>
              </a:spcBef>
              <a:spcAft>
                <a:spcPts val="0"/>
              </a:spcAft>
              <a:buSzPts val="1200"/>
              <a:buNone/>
            </a:pPr>
            <a:r>
              <a:t/>
            </a:r>
            <a:endParaRPr b="1" sz="1500"/>
          </a:p>
          <a:p>
            <a:pPr indent="0" lvl="2" marL="914400" rtl="0" algn="l">
              <a:lnSpc>
                <a:spcPct val="90000"/>
              </a:lnSpc>
              <a:spcBef>
                <a:spcPts val="1000"/>
              </a:spcBef>
              <a:spcAft>
                <a:spcPts val="0"/>
              </a:spcAft>
              <a:buSzPts val="1200"/>
              <a:buNone/>
            </a:pPr>
            <a:r>
              <a:rPr lang="en-US" sz="1500"/>
              <a:t>FDA timeframe for reporting serious unlabeled adverse events for marketed product=15 calendar days</a:t>
            </a:r>
            <a:endParaRPr/>
          </a:p>
          <a:p>
            <a:pPr indent="-251460" lvl="0" marL="342900" rtl="0" algn="l">
              <a:lnSpc>
                <a:spcPct val="90000"/>
              </a:lnSpc>
              <a:spcBef>
                <a:spcPts val="1000"/>
              </a:spcBef>
              <a:spcAft>
                <a:spcPts val="0"/>
              </a:spcAft>
              <a:buSzPts val="144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4800"/>
              <a:buFont typeface="Trebuchet MS"/>
              <a:buNone/>
            </a:pPr>
            <a:r>
              <a:rPr b="1" lang="en-US" sz="4800">
                <a:solidFill>
                  <a:srgbClr val="0000FF"/>
                </a:solidFill>
              </a:rPr>
              <a:t>Adverse Event Information</a:t>
            </a:r>
            <a:endParaRPr/>
          </a:p>
        </p:txBody>
      </p:sp>
      <p:sp>
        <p:nvSpPr>
          <p:cNvPr id="209" name="Google Shape;209;p27"/>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Autofit/>
          </a:bodyPr>
          <a:lstStyle/>
          <a:p>
            <a:pPr indent="-285750" lvl="1" marL="742950" rtl="0" algn="l">
              <a:spcBef>
                <a:spcPts val="0"/>
              </a:spcBef>
              <a:spcAft>
                <a:spcPts val="0"/>
              </a:spcAft>
              <a:buSzPts val="1920"/>
              <a:buChar char="►"/>
            </a:pPr>
            <a:r>
              <a:rPr b="1" lang="en-US" sz="2400"/>
              <a:t>Four Minimum Criteria:</a:t>
            </a:r>
            <a:endParaRPr/>
          </a:p>
          <a:p>
            <a:pPr indent="-228600" lvl="2" marL="1143000" rtl="0" algn="l">
              <a:spcBef>
                <a:spcPts val="1000"/>
              </a:spcBef>
              <a:spcAft>
                <a:spcPts val="0"/>
              </a:spcAft>
              <a:buSzPts val="1920"/>
              <a:buChar char="►"/>
            </a:pPr>
            <a:r>
              <a:rPr b="1" lang="en-US" sz="2400"/>
              <a:t>Patient Info (Name/Initials, Age/DOB, Height, Weight, Med Hx, Concomitant Meds)</a:t>
            </a:r>
            <a:endParaRPr/>
          </a:p>
          <a:p>
            <a:pPr indent="-228600" lvl="2" marL="1143000" rtl="0" algn="l">
              <a:spcBef>
                <a:spcPts val="1000"/>
              </a:spcBef>
              <a:spcAft>
                <a:spcPts val="0"/>
              </a:spcAft>
              <a:buSzPts val="1920"/>
              <a:buChar char="►"/>
            </a:pPr>
            <a:r>
              <a:rPr b="1" lang="en-US" sz="2400"/>
              <a:t>Product Info (Name, Strength, Dosage, Frequency, Indication, Start/Stop Dates)</a:t>
            </a:r>
            <a:endParaRPr/>
          </a:p>
          <a:p>
            <a:pPr indent="-228600" lvl="2" marL="1143000" rtl="0" algn="l">
              <a:spcBef>
                <a:spcPts val="1000"/>
              </a:spcBef>
              <a:spcAft>
                <a:spcPts val="0"/>
              </a:spcAft>
              <a:buSzPts val="1920"/>
              <a:buChar char="►"/>
            </a:pPr>
            <a:r>
              <a:rPr b="1" lang="en-US" sz="2400"/>
              <a:t>Event Info (Onset date, detailed description of all events in chronological order, treatment, action with product, event outcome, rechallenge info)</a:t>
            </a:r>
            <a:endParaRPr/>
          </a:p>
          <a:p>
            <a:pPr indent="-228600" lvl="2" marL="1143000" rtl="0" algn="l">
              <a:spcBef>
                <a:spcPts val="1000"/>
              </a:spcBef>
              <a:spcAft>
                <a:spcPts val="0"/>
              </a:spcAft>
              <a:buSzPts val="1920"/>
              <a:buChar char="►"/>
            </a:pPr>
            <a:r>
              <a:rPr b="1" lang="en-US" sz="2400"/>
              <a:t>Reporter Information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5400"/>
              <a:buFont typeface="Trebuchet MS"/>
              <a:buNone/>
            </a:pPr>
            <a:r>
              <a:rPr b="1" lang="en-US" sz="5400">
                <a:solidFill>
                  <a:srgbClr val="0000FF"/>
                </a:solidFill>
              </a:rPr>
              <a:t>AE Questions</a:t>
            </a:r>
            <a:endParaRPr/>
          </a:p>
        </p:txBody>
      </p:sp>
      <p:sp>
        <p:nvSpPr>
          <p:cNvPr id="215" name="Google Shape;215;p28"/>
          <p:cNvSpPr txBox="1"/>
          <p:nvPr>
            <p:ph idx="1" type="body"/>
          </p:nvPr>
        </p:nvSpPr>
        <p:spPr>
          <a:xfrm>
            <a:off x="677334" y="2052434"/>
            <a:ext cx="8596668" cy="3880773"/>
          </a:xfrm>
          <a:prstGeom prst="rect">
            <a:avLst/>
          </a:prstGeom>
          <a:noFill/>
          <a:ln>
            <a:noFill/>
          </a:ln>
        </p:spPr>
        <p:txBody>
          <a:bodyPr anchorCtr="0" anchor="t" bIns="45700" lIns="91425" spcFirstLastPara="1" rIns="91425" wrap="square" tIns="45700">
            <a:noAutofit/>
          </a:bodyPr>
          <a:lstStyle/>
          <a:p>
            <a:pPr indent="0" lvl="1" marL="457200" rtl="0" algn="l">
              <a:spcBef>
                <a:spcPts val="0"/>
              </a:spcBef>
              <a:spcAft>
                <a:spcPts val="0"/>
              </a:spcAft>
              <a:buSzPts val="1920"/>
              <a:buNone/>
            </a:pPr>
            <a:r>
              <a:rPr b="1" lang="en-US" sz="2400"/>
              <a:t>Which of the following is </a:t>
            </a:r>
            <a:r>
              <a:rPr b="1" lang="en-US" sz="2400">
                <a:solidFill>
                  <a:srgbClr val="FF0000"/>
                </a:solidFill>
              </a:rPr>
              <a:t>NOT </a:t>
            </a:r>
            <a:r>
              <a:rPr b="1" lang="en-US" sz="2400"/>
              <a:t>an AE/SSE?</a:t>
            </a:r>
            <a:endParaRPr/>
          </a:p>
          <a:p>
            <a:pPr indent="-342900" lvl="1" marL="800100" rtl="0" algn="l">
              <a:spcBef>
                <a:spcPts val="1000"/>
              </a:spcBef>
              <a:spcAft>
                <a:spcPts val="0"/>
              </a:spcAft>
              <a:buSzPts val="1920"/>
              <a:buAutoNum type="alphaUcPeriod"/>
            </a:pPr>
            <a:r>
              <a:rPr b="1" lang="en-US" sz="2400"/>
              <a:t>Broken arm after car accident while taking alprazolam</a:t>
            </a:r>
            <a:endParaRPr/>
          </a:p>
          <a:p>
            <a:pPr indent="-342900" lvl="1" marL="800100" rtl="0" algn="l">
              <a:spcBef>
                <a:spcPts val="1000"/>
              </a:spcBef>
              <a:spcAft>
                <a:spcPts val="0"/>
              </a:spcAft>
              <a:buSzPts val="1920"/>
              <a:buAutoNum type="alphaUcPeriod"/>
            </a:pPr>
            <a:r>
              <a:rPr b="1" lang="en-US" sz="2400"/>
              <a:t>Accidental injection of EPIPEN in a child who released the device</a:t>
            </a:r>
            <a:endParaRPr/>
          </a:p>
          <a:p>
            <a:pPr indent="-342900" lvl="1" marL="800100" rtl="0" algn="l">
              <a:spcBef>
                <a:spcPts val="1000"/>
              </a:spcBef>
              <a:spcAft>
                <a:spcPts val="0"/>
              </a:spcAft>
              <a:buSzPts val="1920"/>
              <a:buAutoNum type="alphaUcPeriod"/>
            </a:pPr>
            <a:r>
              <a:rPr b="1" lang="en-US" sz="2400"/>
              <a:t>Discoloration of solution in a sealed vial that should appear clear</a:t>
            </a:r>
            <a:endParaRPr/>
          </a:p>
          <a:p>
            <a:pPr indent="-342900" lvl="1" marL="800100" rtl="0" algn="l">
              <a:spcBef>
                <a:spcPts val="1000"/>
              </a:spcBef>
              <a:spcAft>
                <a:spcPts val="0"/>
              </a:spcAft>
              <a:buSzPts val="1920"/>
              <a:buAutoNum type="alphaUcPeriod"/>
            </a:pPr>
            <a:r>
              <a:rPr b="1" lang="en-US" sz="2400"/>
              <a:t>Diarrhea after four doses of amoxicillin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5400"/>
              <a:buFont typeface="Trebuchet MS"/>
              <a:buNone/>
            </a:pPr>
            <a:r>
              <a:rPr b="1" lang="en-US" sz="5400">
                <a:solidFill>
                  <a:srgbClr val="0000FF"/>
                </a:solidFill>
              </a:rPr>
              <a:t>AE Questions</a:t>
            </a:r>
            <a:endParaRPr/>
          </a:p>
        </p:txBody>
      </p:sp>
      <p:sp>
        <p:nvSpPr>
          <p:cNvPr id="221" name="Google Shape;221;p29"/>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Autofit/>
          </a:bodyPr>
          <a:lstStyle/>
          <a:p>
            <a:pPr indent="0" lvl="1" marL="457200" rtl="0" algn="l">
              <a:spcBef>
                <a:spcPts val="0"/>
              </a:spcBef>
              <a:spcAft>
                <a:spcPts val="0"/>
              </a:spcAft>
              <a:buSzPts val="1920"/>
              <a:buNone/>
            </a:pPr>
            <a:r>
              <a:rPr b="1" lang="en-US" sz="2400"/>
              <a:t>Which of the following is </a:t>
            </a:r>
            <a:r>
              <a:rPr b="1" lang="en-US" sz="2400">
                <a:solidFill>
                  <a:srgbClr val="FF0000"/>
                </a:solidFill>
              </a:rPr>
              <a:t>NOT </a:t>
            </a:r>
            <a:r>
              <a:rPr b="1" lang="en-US" sz="2400"/>
              <a:t>an AE/SSE?</a:t>
            </a:r>
            <a:endParaRPr/>
          </a:p>
          <a:p>
            <a:pPr indent="-342900" lvl="1" marL="800100" rtl="0" algn="l">
              <a:spcBef>
                <a:spcPts val="1000"/>
              </a:spcBef>
              <a:spcAft>
                <a:spcPts val="0"/>
              </a:spcAft>
              <a:buSzPts val="1920"/>
              <a:buAutoNum type="alphaUcPeriod"/>
            </a:pPr>
            <a:r>
              <a:rPr b="1" lang="en-US" sz="2400"/>
              <a:t>Broken arm after car accident while taking alprazolam</a:t>
            </a:r>
            <a:endParaRPr/>
          </a:p>
          <a:p>
            <a:pPr indent="-342900" lvl="1" marL="800100" rtl="0" algn="l">
              <a:spcBef>
                <a:spcPts val="1000"/>
              </a:spcBef>
              <a:spcAft>
                <a:spcPts val="0"/>
              </a:spcAft>
              <a:buSzPts val="1920"/>
              <a:buAutoNum type="alphaUcPeriod"/>
            </a:pPr>
            <a:r>
              <a:rPr b="1" lang="en-US" sz="2400"/>
              <a:t>Accidental injection of EPIPEN in a child who released the device</a:t>
            </a:r>
            <a:endParaRPr/>
          </a:p>
          <a:p>
            <a:pPr indent="-342900" lvl="1" marL="800100" rtl="0" algn="l">
              <a:spcBef>
                <a:spcPts val="1000"/>
              </a:spcBef>
              <a:spcAft>
                <a:spcPts val="0"/>
              </a:spcAft>
              <a:buSzPts val="1920"/>
              <a:buFont typeface="Noto Sans Symbols"/>
              <a:buAutoNum type="alphaUcPeriod"/>
            </a:pPr>
            <a:r>
              <a:rPr b="1" lang="en-US" sz="2400">
                <a:solidFill>
                  <a:srgbClr val="FF0000"/>
                </a:solidFill>
              </a:rPr>
              <a:t>Discoloration of solution in a sealed vial that should appear clear</a:t>
            </a:r>
            <a:endParaRPr/>
          </a:p>
          <a:p>
            <a:pPr indent="-342900" lvl="1" marL="800100" rtl="0" algn="l">
              <a:spcBef>
                <a:spcPts val="1000"/>
              </a:spcBef>
              <a:spcAft>
                <a:spcPts val="0"/>
              </a:spcAft>
              <a:buSzPts val="1920"/>
              <a:buAutoNum type="alphaUcPeriod"/>
            </a:pPr>
            <a:r>
              <a:rPr b="1" lang="en-US" sz="2400"/>
              <a:t>Diarrhea after four doses of amoxicillin</a:t>
            </a:r>
            <a:endParaRPr/>
          </a:p>
          <a:p>
            <a:pPr indent="-251460" lvl="0" marL="342900" rtl="0" algn="l">
              <a:spcBef>
                <a:spcPts val="1000"/>
              </a:spcBef>
              <a:spcAft>
                <a:spcPts val="0"/>
              </a:spcAft>
              <a:buSzPts val="144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3200"/>
              <a:buFont typeface="Trebuchet MS"/>
              <a:buNone/>
            </a:pPr>
            <a:r>
              <a:rPr b="1" lang="en-US" sz="3200">
                <a:solidFill>
                  <a:srgbClr val="0000FF"/>
                </a:solidFill>
              </a:rPr>
              <a:t>FDA Adverse Event Reporting System (FAERS)</a:t>
            </a:r>
            <a:endParaRPr/>
          </a:p>
        </p:txBody>
      </p:sp>
      <p:sp>
        <p:nvSpPr>
          <p:cNvPr id="228" name="Google Shape;228;p30"/>
          <p:cNvSpPr txBox="1"/>
          <p:nvPr>
            <p:ph idx="1" type="body"/>
          </p:nvPr>
        </p:nvSpPr>
        <p:spPr>
          <a:xfrm>
            <a:off x="677334" y="1617664"/>
            <a:ext cx="8596668" cy="5067616"/>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20"/>
              <a:buChar char="►"/>
            </a:pPr>
            <a:r>
              <a:rPr b="1" lang="en-US" sz="2400"/>
              <a:t>D</a:t>
            </a:r>
            <a:r>
              <a:rPr b="1" lang="en-US" sz="2400"/>
              <a:t>atabase that contains information on adverse event and medication error reports submitted to FDA</a:t>
            </a:r>
            <a:endParaRPr/>
          </a:p>
          <a:p>
            <a:pPr indent="-342900" lvl="0" marL="342900" rtl="0" algn="l">
              <a:spcBef>
                <a:spcPts val="1000"/>
              </a:spcBef>
              <a:spcAft>
                <a:spcPts val="0"/>
              </a:spcAft>
              <a:buSzPts val="1920"/>
              <a:buChar char="►"/>
            </a:pPr>
            <a:r>
              <a:rPr b="1" lang="en-US" sz="2400"/>
              <a:t>R</a:t>
            </a:r>
            <a:r>
              <a:rPr b="1" lang="en-US" sz="2400"/>
              <a:t>eports in FAERS are evaluated by members of the CDER Office of Surveillance and Epidemiology to monitor drug safety and look for safety signals</a:t>
            </a:r>
            <a:endParaRPr/>
          </a:p>
          <a:p>
            <a:pPr indent="-342900" lvl="0" marL="342900" rtl="0" algn="l">
              <a:spcBef>
                <a:spcPts val="1000"/>
              </a:spcBef>
              <a:spcAft>
                <a:spcPts val="0"/>
              </a:spcAft>
              <a:buSzPts val="1920"/>
              <a:buChar char="►"/>
            </a:pPr>
            <a:r>
              <a:rPr b="1" lang="en-US" sz="2400"/>
              <a:t>Information is used to determine: </a:t>
            </a:r>
            <a:endParaRPr/>
          </a:p>
          <a:p>
            <a:pPr indent="-285750" lvl="1" marL="742950" rtl="0" algn="l">
              <a:spcBef>
                <a:spcPts val="1000"/>
              </a:spcBef>
              <a:spcAft>
                <a:spcPts val="0"/>
              </a:spcAft>
              <a:buSzPts val="1920"/>
              <a:buChar char="►"/>
            </a:pPr>
            <a:r>
              <a:rPr b="1" lang="en-US" sz="2400"/>
              <a:t>Changes in product labeling</a:t>
            </a:r>
            <a:endParaRPr/>
          </a:p>
          <a:p>
            <a:pPr indent="-285750" lvl="1" marL="742950" rtl="0" algn="l">
              <a:spcBef>
                <a:spcPts val="1000"/>
              </a:spcBef>
              <a:spcAft>
                <a:spcPts val="0"/>
              </a:spcAft>
              <a:buSzPts val="1920"/>
              <a:buChar char="►"/>
            </a:pPr>
            <a:r>
              <a:rPr b="1" lang="en-US" sz="2400"/>
              <a:t>Sending a "Dear Health Care Professional" letter</a:t>
            </a:r>
            <a:endParaRPr/>
          </a:p>
          <a:p>
            <a:pPr indent="-285750" lvl="1" marL="742950" rtl="0" algn="l">
              <a:spcBef>
                <a:spcPts val="1000"/>
              </a:spcBef>
              <a:spcAft>
                <a:spcPts val="0"/>
              </a:spcAft>
              <a:buSzPts val="1920"/>
              <a:buChar char="►"/>
            </a:pPr>
            <a:r>
              <a:rPr b="1" lang="en-US" sz="2400"/>
              <a:t>Establish a REMS program</a:t>
            </a:r>
            <a:endParaRPr/>
          </a:p>
          <a:p>
            <a:pPr indent="-285750" lvl="1" marL="742950" rtl="0" algn="l">
              <a:spcBef>
                <a:spcPts val="1000"/>
              </a:spcBef>
              <a:spcAft>
                <a:spcPts val="0"/>
              </a:spcAft>
              <a:buSzPts val="1920"/>
              <a:buChar char="►"/>
            </a:pPr>
            <a:r>
              <a:rPr b="1" lang="en-US" sz="2400"/>
              <a:t>Development of boxed warnings</a:t>
            </a:r>
            <a:endParaRPr/>
          </a:p>
          <a:p>
            <a:pPr indent="-285750" lvl="1" marL="742950" rtl="0" algn="l">
              <a:spcBef>
                <a:spcPts val="1000"/>
              </a:spcBef>
              <a:spcAft>
                <a:spcPts val="0"/>
              </a:spcAft>
              <a:buSzPts val="1920"/>
              <a:buChar char="►"/>
            </a:pPr>
            <a:r>
              <a:rPr b="1" lang="en-US" sz="2400"/>
              <a:t>Re-evaluating an approval decision</a:t>
            </a:r>
            <a:endParaRPr/>
          </a:p>
          <a:p>
            <a:pPr indent="-251460" lvl="0" marL="342900" rtl="0" algn="l">
              <a:spcBef>
                <a:spcPts val="1000"/>
              </a:spcBef>
              <a:spcAft>
                <a:spcPts val="0"/>
              </a:spcAft>
              <a:buSzPts val="144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1"/>
          <p:cNvSpPr txBox="1"/>
          <p:nvPr>
            <p:ph type="title"/>
          </p:nvPr>
        </p:nvSpPr>
        <p:spPr>
          <a:xfrm>
            <a:off x="677334" y="609600"/>
            <a:ext cx="8596668" cy="93472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5400"/>
              <a:buFont typeface="Trebuchet MS"/>
              <a:buNone/>
            </a:pPr>
            <a:r>
              <a:rPr b="1" lang="en-US" sz="5400">
                <a:solidFill>
                  <a:srgbClr val="0000FF"/>
                </a:solidFill>
              </a:rPr>
              <a:t>Reports to MedWatch</a:t>
            </a:r>
            <a:endParaRPr b="1" sz="5400">
              <a:solidFill>
                <a:srgbClr val="0000FF"/>
              </a:solidFill>
            </a:endParaRPr>
          </a:p>
        </p:txBody>
      </p:sp>
      <p:sp>
        <p:nvSpPr>
          <p:cNvPr id="234" name="Google Shape;234;p31"/>
          <p:cNvSpPr txBox="1"/>
          <p:nvPr>
            <p:ph idx="1" type="body"/>
          </p:nvPr>
        </p:nvSpPr>
        <p:spPr>
          <a:xfrm>
            <a:off x="579120" y="1544320"/>
            <a:ext cx="8694882" cy="5100319"/>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440"/>
              <a:buChar char="►"/>
            </a:pPr>
            <a:r>
              <a:rPr b="1" lang="en-US"/>
              <a:t>Use the MedWatch form to report adverse events for human medical products, including serious drug side effects, product use errors, product quality problems, and therapeutic failures for:</a:t>
            </a:r>
            <a:endParaRPr/>
          </a:p>
          <a:p>
            <a:pPr indent="-285750" lvl="1" marL="742950" rtl="0" algn="l">
              <a:spcBef>
                <a:spcPts val="1000"/>
              </a:spcBef>
              <a:spcAft>
                <a:spcPts val="0"/>
              </a:spcAft>
              <a:buSzPts val="1440"/>
              <a:buChar char="►"/>
            </a:pPr>
            <a:r>
              <a:rPr b="1" lang="en-US" sz="1800"/>
              <a:t>Prescription or over-the-counter medicines, as well as medicines administered to hospital patients or at outpatient infusion centers</a:t>
            </a:r>
            <a:endParaRPr/>
          </a:p>
          <a:p>
            <a:pPr indent="-285750" lvl="1" marL="742950" rtl="0" algn="l">
              <a:spcBef>
                <a:spcPts val="1000"/>
              </a:spcBef>
              <a:spcAft>
                <a:spcPts val="0"/>
              </a:spcAft>
              <a:buSzPts val="1440"/>
              <a:buChar char="►"/>
            </a:pPr>
            <a:r>
              <a:rPr b="1" lang="en-US" sz="1800"/>
              <a:t>Biologics (including blood components, blood and plasma derivatives, allergenic, human cells, tissues, and cellular and tissue-based products (HCT/Ps)</a:t>
            </a:r>
            <a:endParaRPr/>
          </a:p>
          <a:p>
            <a:pPr indent="-285750" lvl="1" marL="742950" rtl="0" algn="l">
              <a:spcBef>
                <a:spcPts val="1000"/>
              </a:spcBef>
              <a:spcAft>
                <a:spcPts val="0"/>
              </a:spcAft>
              <a:buSzPts val="1440"/>
              <a:buChar char="►"/>
            </a:pPr>
            <a:r>
              <a:rPr b="1" lang="en-US" sz="1800"/>
              <a:t>Medical devices (including in vitro diagnostic products)</a:t>
            </a:r>
            <a:endParaRPr/>
          </a:p>
          <a:p>
            <a:pPr indent="-285750" lvl="1" marL="742950" rtl="0" algn="l">
              <a:spcBef>
                <a:spcPts val="1000"/>
              </a:spcBef>
              <a:spcAft>
                <a:spcPts val="0"/>
              </a:spcAft>
              <a:buSzPts val="1440"/>
              <a:buChar char="►"/>
            </a:pPr>
            <a:r>
              <a:rPr b="1" lang="en-US" sz="1800"/>
              <a:t>Combination products</a:t>
            </a:r>
            <a:endParaRPr/>
          </a:p>
          <a:p>
            <a:pPr indent="-285750" lvl="1" marL="742950" rtl="0" algn="l">
              <a:spcBef>
                <a:spcPts val="1000"/>
              </a:spcBef>
              <a:spcAft>
                <a:spcPts val="0"/>
              </a:spcAft>
              <a:buSzPts val="1440"/>
              <a:buChar char="►"/>
            </a:pPr>
            <a:r>
              <a:rPr b="1" lang="en-US" sz="1800"/>
              <a:t>Special nutritional products (dietary supplements, infant formulas, and medical foods)</a:t>
            </a:r>
            <a:endParaRPr/>
          </a:p>
          <a:p>
            <a:pPr indent="-285750" lvl="1" marL="742950" rtl="0" algn="l">
              <a:spcBef>
                <a:spcPts val="1000"/>
              </a:spcBef>
              <a:spcAft>
                <a:spcPts val="0"/>
              </a:spcAft>
              <a:buSzPts val="1440"/>
              <a:buChar char="►"/>
            </a:pPr>
            <a:r>
              <a:rPr b="1" lang="en-US" sz="1800"/>
              <a:t>Cosmetics</a:t>
            </a:r>
            <a:endParaRPr/>
          </a:p>
          <a:p>
            <a:pPr indent="-285750" lvl="1" marL="742950" rtl="0" algn="l">
              <a:spcBef>
                <a:spcPts val="1000"/>
              </a:spcBef>
              <a:spcAft>
                <a:spcPts val="0"/>
              </a:spcAft>
              <a:buSzPts val="1440"/>
              <a:buChar char="►"/>
            </a:pPr>
            <a:r>
              <a:rPr b="1" lang="en-US" sz="1800"/>
              <a:t>Foods/beverages (including reports of serious allergic reactions)</a:t>
            </a:r>
            <a:endParaRPr/>
          </a:p>
          <a:p>
            <a:pPr indent="-261620" lvl="0" marL="342900" rtl="0" algn="l">
              <a:spcBef>
                <a:spcPts val="1000"/>
              </a:spcBef>
              <a:spcAft>
                <a:spcPts val="0"/>
              </a:spcAft>
              <a:buSzPts val="1280"/>
              <a:buNone/>
            </a:pPr>
            <a:r>
              <a:t/>
            </a:r>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5400"/>
              <a:buFont typeface="Trebuchet MS"/>
              <a:buNone/>
            </a:pPr>
            <a:r>
              <a:rPr b="1" lang="en-US" sz="5400">
                <a:solidFill>
                  <a:srgbClr val="0000FF"/>
                </a:solidFill>
              </a:rPr>
              <a:t>MedWatch</a:t>
            </a:r>
            <a:endParaRPr b="1" sz="5400">
              <a:solidFill>
                <a:srgbClr val="0000FF"/>
              </a:solidFill>
            </a:endParaRPr>
          </a:p>
        </p:txBody>
      </p:sp>
      <p:sp>
        <p:nvSpPr>
          <p:cNvPr id="241" name="Google Shape;241;p32"/>
          <p:cNvSpPr txBox="1"/>
          <p:nvPr>
            <p:ph idx="1" type="body"/>
          </p:nvPr>
        </p:nvSpPr>
        <p:spPr>
          <a:xfrm>
            <a:off x="677334" y="1849120"/>
            <a:ext cx="8596668" cy="4826001"/>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20"/>
              <a:buChar char="►"/>
            </a:pPr>
            <a:r>
              <a:rPr lang="en-US" sz="2400"/>
              <a:t>For health professionals and the public to </a:t>
            </a:r>
            <a:r>
              <a:rPr b="1" lang="en-US" sz="2400"/>
              <a:t>voluntarily </a:t>
            </a:r>
            <a:r>
              <a:rPr lang="en-US" sz="2400"/>
              <a:t>report serious reactions and problems with medical products</a:t>
            </a:r>
            <a:endParaRPr/>
          </a:p>
          <a:p>
            <a:pPr indent="-342900" lvl="0" marL="342900" rtl="0" algn="l">
              <a:spcBef>
                <a:spcPts val="1000"/>
              </a:spcBef>
              <a:spcAft>
                <a:spcPts val="0"/>
              </a:spcAft>
              <a:buSzPts val="1920"/>
              <a:buChar char="►"/>
            </a:pPr>
            <a:r>
              <a:rPr lang="en-US" sz="2400"/>
              <a:t>For manufacturers, distributors, IND reporters, user facilities personnel, it is </a:t>
            </a:r>
            <a:r>
              <a:rPr b="1" lang="en-US" sz="2400"/>
              <a:t>mandatory</a:t>
            </a:r>
            <a:r>
              <a:rPr lang="en-US" sz="2400"/>
              <a:t> to report serious reactions and problems with medicinal products </a:t>
            </a:r>
            <a:endParaRPr/>
          </a:p>
          <a:p>
            <a:pPr indent="-342900" lvl="0" marL="342900" rtl="0" algn="l">
              <a:spcBef>
                <a:spcPts val="1000"/>
              </a:spcBef>
              <a:spcAft>
                <a:spcPts val="0"/>
              </a:spcAft>
              <a:buSzPts val="1920"/>
              <a:buChar char="►"/>
            </a:pPr>
            <a:r>
              <a:rPr lang="en-US" sz="2400"/>
              <a:t>ensures that new safety information is rapidly communicated to the medical community</a:t>
            </a:r>
            <a:endParaRPr/>
          </a:p>
          <a:p>
            <a:pPr indent="-342900" lvl="0" marL="342900" rtl="0" algn="l">
              <a:spcBef>
                <a:spcPts val="1000"/>
              </a:spcBef>
              <a:spcAft>
                <a:spcPts val="0"/>
              </a:spcAft>
              <a:buSzPts val="1920"/>
              <a:buChar char="►"/>
            </a:pPr>
            <a:r>
              <a:rPr lang="en-US" sz="2400"/>
              <a:t>MedWatch forms will be entered into the FAERS</a:t>
            </a:r>
            <a:endParaRPr/>
          </a:p>
          <a:p>
            <a:pPr indent="-342900" lvl="0" marL="342900" rtl="0" algn="l">
              <a:spcBef>
                <a:spcPts val="1000"/>
              </a:spcBef>
              <a:spcAft>
                <a:spcPts val="0"/>
              </a:spcAft>
              <a:buSzPts val="1920"/>
              <a:buChar char="►"/>
            </a:pPr>
            <a:r>
              <a:rPr lang="en-US" sz="2400" u="sng">
                <a:solidFill>
                  <a:schemeClr val="hlink"/>
                </a:solidFill>
                <a:hlinkClick r:id="rId3"/>
              </a:rPr>
              <a:t>http://www.fda.gov/Safety/MedWatch/HowToReport/default.htm</a:t>
            </a:r>
            <a:r>
              <a:rPr lang="en-US" sz="2400">
                <a:solidFill>
                  <a:srgbClr val="0033CC"/>
                </a:solidFill>
              </a:rPr>
              <a:t> </a:t>
            </a:r>
            <a:endParaRPr/>
          </a:p>
          <a:p>
            <a:pPr indent="-220980" lvl="0" marL="342900" rtl="0" algn="l">
              <a:spcBef>
                <a:spcPts val="1000"/>
              </a:spcBef>
              <a:spcAft>
                <a:spcPts val="0"/>
              </a:spcAft>
              <a:buSzPts val="1920"/>
              <a:buNone/>
            </a:pPr>
            <a:r>
              <a:t/>
            </a:r>
            <a:endParaRPr sz="2400">
              <a:solidFill>
                <a:srgbClr val="0033CC"/>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5400"/>
              <a:buFont typeface="Trebuchet MS"/>
              <a:buNone/>
            </a:pPr>
            <a:r>
              <a:rPr b="1" lang="en-US" sz="5400">
                <a:solidFill>
                  <a:srgbClr val="0000FF"/>
                </a:solidFill>
              </a:rPr>
              <a:t>Adverse Event Reporting</a:t>
            </a:r>
            <a:endParaRPr/>
          </a:p>
        </p:txBody>
      </p:sp>
      <p:sp>
        <p:nvSpPr>
          <p:cNvPr id="248" name="Google Shape;248;p33"/>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00"/>
              <a:buChar char="►"/>
            </a:pPr>
            <a:r>
              <a:rPr b="1" lang="en-US" sz="2000"/>
              <a:t>Consumers and health care providers </a:t>
            </a:r>
            <a:endParaRPr/>
          </a:p>
          <a:p>
            <a:pPr indent="-285750" lvl="1" marL="742950" rtl="0" algn="l">
              <a:spcBef>
                <a:spcPts val="1000"/>
              </a:spcBef>
              <a:spcAft>
                <a:spcPts val="0"/>
              </a:spcAft>
              <a:buSzPts val="1600"/>
              <a:buChar char="►"/>
            </a:pPr>
            <a:r>
              <a:rPr b="1" lang="en-US" sz="2000"/>
              <a:t>E</a:t>
            </a:r>
            <a:r>
              <a:rPr b="1" lang="en-US" sz="2000"/>
              <a:t>ncouraged to voluntarily report adverse events to the FDA (spontaneous reporting)</a:t>
            </a:r>
            <a:endParaRPr/>
          </a:p>
          <a:p>
            <a:pPr indent="-228600" lvl="2" marL="1143000" rtl="0" algn="l">
              <a:spcBef>
                <a:spcPts val="1000"/>
              </a:spcBef>
              <a:spcAft>
                <a:spcPts val="0"/>
              </a:spcAft>
              <a:buSzPts val="1600"/>
              <a:buChar char="►"/>
            </a:pPr>
            <a:r>
              <a:rPr b="1" lang="en-US" sz="2000"/>
              <a:t>May utilize MedWatch</a:t>
            </a:r>
            <a:endParaRPr b="1" sz="2000"/>
          </a:p>
          <a:p>
            <a:pPr indent="-228600" lvl="2" marL="1143000" rtl="0" algn="l">
              <a:spcBef>
                <a:spcPts val="1000"/>
              </a:spcBef>
              <a:spcAft>
                <a:spcPts val="0"/>
              </a:spcAft>
              <a:buSzPts val="1600"/>
              <a:buChar char="►"/>
            </a:pPr>
            <a:r>
              <a:rPr b="1" lang="en-US" sz="2000"/>
              <a:t>Adverse events may be reported to the manufacturer</a:t>
            </a:r>
            <a:endParaRPr/>
          </a:p>
          <a:p>
            <a:pPr indent="-228600" lvl="3" marL="1600200" rtl="0" algn="l">
              <a:spcBef>
                <a:spcPts val="1000"/>
              </a:spcBef>
              <a:spcAft>
                <a:spcPts val="0"/>
              </a:spcAft>
              <a:buSzPts val="1600"/>
              <a:buChar char="►"/>
            </a:pPr>
            <a:r>
              <a:rPr b="1" lang="en-US" sz="2000"/>
              <a:t>Will then route to FDA and will be entered into FAERS</a:t>
            </a:r>
            <a:endParaRPr/>
          </a:p>
          <a:p>
            <a:pPr indent="-342900" lvl="0" marL="342900" rtl="0" algn="l">
              <a:spcBef>
                <a:spcPts val="1000"/>
              </a:spcBef>
              <a:spcAft>
                <a:spcPts val="0"/>
              </a:spcAft>
              <a:buSzPts val="1600"/>
              <a:buChar char="►"/>
            </a:pPr>
            <a:r>
              <a:rPr b="1" lang="en-US" sz="2000"/>
              <a:t>Manufacturers, distributors, IND reporters, user facilities personnel</a:t>
            </a:r>
            <a:r>
              <a:rPr lang="en-US" sz="2000"/>
              <a:t> </a:t>
            </a:r>
            <a:endParaRPr b="1" sz="2000"/>
          </a:p>
          <a:p>
            <a:pPr indent="-285750" lvl="1" marL="742950" rtl="0" algn="l">
              <a:spcBef>
                <a:spcPts val="1000"/>
              </a:spcBef>
              <a:spcAft>
                <a:spcPts val="0"/>
              </a:spcAft>
              <a:buSzPts val="1600"/>
              <a:buChar char="►"/>
            </a:pPr>
            <a:r>
              <a:rPr b="1" lang="en-US" sz="2000"/>
              <a:t>Mandated by FDA to report adverse events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4"/>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4000"/>
              <a:buFont typeface="Trebuchet MS"/>
              <a:buNone/>
            </a:pPr>
            <a:r>
              <a:rPr b="1" lang="en-US" sz="4000">
                <a:solidFill>
                  <a:srgbClr val="0000FF"/>
                </a:solidFill>
              </a:rPr>
              <a:t>Does HIPAA apply to AE reporting?</a:t>
            </a:r>
            <a:endParaRPr/>
          </a:p>
        </p:txBody>
      </p:sp>
      <p:sp>
        <p:nvSpPr>
          <p:cNvPr id="255" name="Google Shape;255;p34"/>
          <p:cNvSpPr txBox="1"/>
          <p:nvPr>
            <p:ph idx="1" type="body"/>
          </p:nvPr>
        </p:nvSpPr>
        <p:spPr>
          <a:xfrm>
            <a:off x="677334" y="1930400"/>
            <a:ext cx="8596668" cy="388077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20"/>
              <a:buChar char="►"/>
            </a:pPr>
            <a:r>
              <a:rPr b="1" lang="en-US" sz="2400"/>
              <a:t>The HIPAA Privacy Rule is not intended to disrupt or discourage adverse event reporting </a:t>
            </a:r>
            <a:endParaRPr/>
          </a:p>
          <a:p>
            <a:pPr indent="-342900" lvl="0" marL="342900" rtl="0" algn="l">
              <a:spcBef>
                <a:spcPts val="1000"/>
              </a:spcBef>
              <a:spcAft>
                <a:spcPts val="0"/>
              </a:spcAft>
              <a:buSzPts val="1920"/>
              <a:buChar char="►"/>
            </a:pPr>
            <a:r>
              <a:rPr b="1" lang="en-US" sz="2400"/>
              <a:t>The Privacy Rule specifically permits covered entities (such as pharmacists, physicians or hospitals) to report adverse events and other information related to the quality, effectiveness and safety of FDA-regulated products both to the manufacturers and directly to FDA</a:t>
            </a:r>
            <a:endParaRPr/>
          </a:p>
          <a:p>
            <a:pPr indent="-342900" lvl="0" marL="342900" rtl="0" algn="l">
              <a:spcBef>
                <a:spcPts val="1000"/>
              </a:spcBef>
              <a:spcAft>
                <a:spcPts val="0"/>
              </a:spcAft>
              <a:buSzPts val="1920"/>
              <a:buChar char="►"/>
            </a:pPr>
            <a:r>
              <a:rPr b="1" lang="en-US" sz="2400"/>
              <a:t>Make a reasonable effort to submit the minimum protected health information necessary to achieve the purpose of your report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5400"/>
              <a:buFont typeface="Trebuchet MS"/>
              <a:buNone/>
            </a:pPr>
            <a:r>
              <a:rPr b="1" lang="en-US" sz="5400">
                <a:solidFill>
                  <a:srgbClr val="0000FF"/>
                </a:solidFill>
              </a:rPr>
              <a:t>AE Questions</a:t>
            </a:r>
            <a:endParaRPr/>
          </a:p>
        </p:txBody>
      </p:sp>
      <p:sp>
        <p:nvSpPr>
          <p:cNvPr id="261" name="Google Shape;261;p35"/>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Autofit/>
          </a:bodyPr>
          <a:lstStyle/>
          <a:p>
            <a:pPr indent="0" lvl="1" marL="457200" rtl="0" algn="l">
              <a:spcBef>
                <a:spcPts val="0"/>
              </a:spcBef>
              <a:spcAft>
                <a:spcPts val="0"/>
              </a:spcAft>
              <a:buSzPts val="1920"/>
              <a:buNone/>
            </a:pPr>
            <a:r>
              <a:rPr b="1" lang="en-US" sz="2400"/>
              <a:t>TRUE or FALSE?</a:t>
            </a:r>
            <a:endParaRPr/>
          </a:p>
          <a:p>
            <a:pPr indent="0" lvl="1" marL="457200" rtl="0" algn="l">
              <a:spcBef>
                <a:spcPts val="1000"/>
              </a:spcBef>
              <a:spcAft>
                <a:spcPts val="0"/>
              </a:spcAft>
              <a:buSzPts val="1920"/>
              <a:buNone/>
            </a:pPr>
            <a:r>
              <a:rPr b="1" lang="en-US" sz="2400"/>
              <a:t>At a medical convention, a Lyrica® sales representative hears a physician describing several patients who had experienced problems while taking the drug. The sales representative is NOT required to report this to the drug company.</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5400"/>
              <a:buFont typeface="Trebuchet MS"/>
              <a:buNone/>
            </a:pPr>
            <a:r>
              <a:rPr b="1" lang="en-US" sz="5400">
                <a:solidFill>
                  <a:srgbClr val="0000FF"/>
                </a:solidFill>
              </a:rPr>
              <a:t>AE Questions</a:t>
            </a:r>
            <a:endParaRPr/>
          </a:p>
        </p:txBody>
      </p:sp>
      <p:sp>
        <p:nvSpPr>
          <p:cNvPr id="267" name="Google Shape;267;p36"/>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440"/>
              <a:buFont typeface="Arial"/>
              <a:buNone/>
            </a:pPr>
            <a:r>
              <a:t/>
            </a:r>
            <a:endParaRPr>
              <a:latin typeface="Verdana"/>
              <a:ea typeface="Verdana"/>
              <a:cs typeface="Verdana"/>
              <a:sym typeface="Verdana"/>
            </a:endParaRPr>
          </a:p>
          <a:p>
            <a:pPr indent="0" lvl="0" marL="0" rtl="0" algn="l">
              <a:spcBef>
                <a:spcPts val="1000"/>
              </a:spcBef>
              <a:spcAft>
                <a:spcPts val="0"/>
              </a:spcAft>
              <a:buSzPts val="1920"/>
              <a:buFont typeface="Arial"/>
              <a:buNone/>
            </a:pPr>
            <a:r>
              <a:rPr b="1" lang="en-US" sz="2400">
                <a:solidFill>
                  <a:srgbClr val="FF0000"/>
                </a:solidFill>
                <a:latin typeface="Trebuchet MS"/>
                <a:ea typeface="Trebuchet MS"/>
                <a:cs typeface="Trebuchet MS"/>
                <a:sym typeface="Trebuchet MS"/>
              </a:rPr>
              <a:t>FALSE</a:t>
            </a:r>
            <a:endParaRPr>
              <a:solidFill>
                <a:srgbClr val="FF0000"/>
              </a:solidFill>
            </a:endParaRPr>
          </a:p>
          <a:p>
            <a:pPr indent="0" lvl="0" marL="0" rtl="0" algn="l">
              <a:spcBef>
                <a:spcPts val="1000"/>
              </a:spcBef>
              <a:spcAft>
                <a:spcPts val="0"/>
              </a:spcAft>
              <a:buSzPts val="1920"/>
              <a:buNone/>
            </a:pPr>
            <a:r>
              <a:rPr b="1" lang="en-US" sz="2400">
                <a:latin typeface="Trebuchet MS"/>
                <a:ea typeface="Trebuchet MS"/>
                <a:cs typeface="Trebuchet MS"/>
                <a:sym typeface="Trebuchet MS"/>
              </a:rPr>
              <a:t>At a medical convention, a Lyrica® sales representative hears a physician describing several patients who had experienced problems while taking the drug. Sales representatives are employees of the drug manufacturer, and are required to report an adverse event</a:t>
            </a:r>
            <a:endParaRPr sz="2400">
              <a:latin typeface="Trebuchet MS"/>
              <a:ea typeface="Trebuchet MS"/>
              <a:cs typeface="Trebuchet MS"/>
              <a:sym typeface="Trebuchet MS"/>
            </a:endParaRPr>
          </a:p>
          <a:p>
            <a:pPr indent="0" lvl="0" marL="0" rtl="0" algn="l">
              <a:spcBef>
                <a:spcPts val="1000"/>
              </a:spcBef>
              <a:spcAft>
                <a:spcPts val="0"/>
              </a:spcAft>
              <a:buSzPts val="1920"/>
              <a:buFont typeface="Arial"/>
              <a:buNone/>
            </a:pPr>
            <a:r>
              <a:rPr lang="en-US" sz="2400">
                <a:solidFill>
                  <a:srgbClr val="FF0000"/>
                </a:solidFill>
                <a:latin typeface="Trebuchet MS"/>
                <a:ea typeface="Trebuchet MS"/>
                <a:cs typeface="Trebuchet MS"/>
                <a:sym typeface="Trebuchet MS"/>
              </a:rPr>
              <a:t>The sales rep </a:t>
            </a:r>
            <a:r>
              <a:rPr b="1" lang="en-US" sz="2400">
                <a:solidFill>
                  <a:srgbClr val="FF0000"/>
                </a:solidFill>
                <a:latin typeface="Trebuchet MS"/>
                <a:ea typeface="Trebuchet MS"/>
                <a:cs typeface="Trebuchet MS"/>
                <a:sym typeface="Trebuchet MS"/>
              </a:rPr>
              <a:t>must</a:t>
            </a:r>
            <a:r>
              <a:rPr lang="en-US" sz="2400">
                <a:solidFill>
                  <a:srgbClr val="FF0000"/>
                </a:solidFill>
                <a:latin typeface="Trebuchet MS"/>
                <a:ea typeface="Trebuchet MS"/>
                <a:cs typeface="Trebuchet MS"/>
                <a:sym typeface="Trebuchet MS"/>
              </a:rPr>
              <a:t> report even though all 4 minimal criteria were not provided.  </a:t>
            </a:r>
            <a:endParaRPr>
              <a:solidFill>
                <a:srgbClr val="FF0000"/>
              </a:solidFill>
            </a:endParaRPr>
          </a:p>
          <a:p>
            <a:pPr indent="-220980" lvl="0" marL="342900" rtl="0" algn="l">
              <a:spcBef>
                <a:spcPts val="1000"/>
              </a:spcBef>
              <a:spcAft>
                <a:spcPts val="0"/>
              </a:spcAft>
              <a:buSzPts val="1920"/>
              <a:buNone/>
            </a:pPr>
            <a:r>
              <a:t/>
            </a:r>
            <a:endParaRPr sz="2400">
              <a:latin typeface="Trebuchet MS"/>
              <a:ea typeface="Trebuchet MS"/>
              <a:cs typeface="Trebuchet MS"/>
              <a:sym typeface="Trebuchet M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5400"/>
              <a:buFont typeface="Trebuchet MS"/>
              <a:buNone/>
            </a:pPr>
            <a:r>
              <a:rPr b="1" lang="en-US" sz="5400">
                <a:solidFill>
                  <a:srgbClr val="0000FF"/>
                </a:solidFill>
              </a:rPr>
              <a:t>Causality</a:t>
            </a:r>
            <a:endParaRPr/>
          </a:p>
        </p:txBody>
      </p:sp>
      <p:sp>
        <p:nvSpPr>
          <p:cNvPr id="273" name="Google Shape;273;p37"/>
          <p:cNvSpPr txBox="1"/>
          <p:nvPr>
            <p:ph idx="1" type="body"/>
          </p:nvPr>
        </p:nvSpPr>
        <p:spPr>
          <a:xfrm>
            <a:off x="677325" y="1724000"/>
            <a:ext cx="10571100" cy="45045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920"/>
              <a:buChar char="►"/>
            </a:pPr>
            <a:r>
              <a:rPr lang="en-US" sz="2400">
                <a:latin typeface="Trebuchet MS"/>
                <a:ea typeface="Trebuchet MS"/>
                <a:cs typeface="Trebuchet MS"/>
                <a:sym typeface="Trebuchet MS"/>
              </a:rPr>
              <a:t>Causality = Assessment by reporter of event’s relationship to the product</a:t>
            </a:r>
            <a:endParaRPr/>
          </a:p>
          <a:p>
            <a:pPr indent="-285750" lvl="1" marL="742950" rtl="0" algn="l">
              <a:lnSpc>
                <a:spcPct val="90000"/>
              </a:lnSpc>
              <a:spcBef>
                <a:spcPts val="1000"/>
              </a:spcBef>
              <a:spcAft>
                <a:spcPts val="0"/>
              </a:spcAft>
              <a:buSzPts val="1920"/>
              <a:buFont typeface="Arial"/>
              <a:buChar char="–"/>
            </a:pPr>
            <a:r>
              <a:rPr lang="en-US" sz="2400">
                <a:latin typeface="Trebuchet MS"/>
                <a:ea typeface="Trebuchet MS"/>
                <a:cs typeface="Trebuchet MS"/>
                <a:sym typeface="Trebuchet MS"/>
              </a:rPr>
              <a:t>Related, Probable, Possible</a:t>
            </a:r>
            <a:endParaRPr/>
          </a:p>
          <a:p>
            <a:pPr indent="-285750" lvl="1" marL="742950" rtl="0" algn="l">
              <a:lnSpc>
                <a:spcPct val="90000"/>
              </a:lnSpc>
              <a:spcBef>
                <a:spcPts val="1000"/>
              </a:spcBef>
              <a:spcAft>
                <a:spcPts val="0"/>
              </a:spcAft>
              <a:buSzPts val="1920"/>
              <a:buFont typeface="Arial"/>
              <a:buChar char="–"/>
            </a:pPr>
            <a:r>
              <a:rPr lang="en-US" sz="2400">
                <a:latin typeface="Trebuchet MS"/>
                <a:ea typeface="Trebuchet MS"/>
                <a:cs typeface="Trebuchet MS"/>
                <a:sym typeface="Trebuchet MS"/>
              </a:rPr>
              <a:t>Unlikely, Not related</a:t>
            </a:r>
            <a:endParaRPr/>
          </a:p>
          <a:p>
            <a:pPr indent="-342900" lvl="0" marL="342900" rtl="0" algn="l">
              <a:lnSpc>
                <a:spcPct val="90000"/>
              </a:lnSpc>
              <a:spcBef>
                <a:spcPts val="1000"/>
              </a:spcBef>
              <a:spcAft>
                <a:spcPts val="0"/>
              </a:spcAft>
              <a:buSzPts val="1920"/>
              <a:buChar char="►"/>
            </a:pPr>
            <a:r>
              <a:rPr lang="en-US" sz="2400">
                <a:latin typeface="Trebuchet MS"/>
                <a:ea typeface="Trebuchet MS"/>
                <a:cs typeface="Trebuchet MS"/>
                <a:sym typeface="Trebuchet MS"/>
              </a:rPr>
              <a:t>Marketed Products:</a:t>
            </a:r>
            <a:endParaRPr/>
          </a:p>
          <a:p>
            <a:pPr indent="-285750" lvl="1" marL="742950" rtl="0" algn="l">
              <a:lnSpc>
                <a:spcPct val="90000"/>
              </a:lnSpc>
              <a:spcBef>
                <a:spcPts val="1000"/>
              </a:spcBef>
              <a:spcAft>
                <a:spcPts val="0"/>
              </a:spcAft>
              <a:buSzPts val="1920"/>
              <a:buFont typeface="Arial"/>
              <a:buChar char="–"/>
            </a:pPr>
            <a:r>
              <a:rPr lang="en-US" sz="2400">
                <a:latin typeface="Trebuchet MS"/>
                <a:ea typeface="Trebuchet MS"/>
                <a:cs typeface="Trebuchet MS"/>
                <a:sym typeface="Trebuchet MS"/>
              </a:rPr>
              <a:t>FDA does not require causality on the FDA Medwatch Form </a:t>
            </a:r>
            <a:endParaRPr/>
          </a:p>
          <a:p>
            <a:pPr indent="-285750" lvl="1" marL="742950" rtl="0" algn="l">
              <a:lnSpc>
                <a:spcPct val="90000"/>
              </a:lnSpc>
              <a:spcBef>
                <a:spcPts val="1000"/>
              </a:spcBef>
              <a:spcAft>
                <a:spcPts val="0"/>
              </a:spcAft>
              <a:buSzPts val="1920"/>
              <a:buFont typeface="Arial"/>
              <a:buChar char="–"/>
            </a:pPr>
            <a:r>
              <a:rPr lang="en-US" sz="2400">
                <a:latin typeface="Trebuchet MS"/>
                <a:ea typeface="Trebuchet MS"/>
                <a:cs typeface="Trebuchet MS"/>
                <a:sym typeface="Trebuchet MS"/>
              </a:rPr>
              <a:t>Other countries may require causality (CIOMS form)</a:t>
            </a:r>
            <a:endParaRPr/>
          </a:p>
          <a:p>
            <a:pPr indent="-342900" lvl="0" marL="342900" rtl="0" algn="l">
              <a:lnSpc>
                <a:spcPct val="90000"/>
              </a:lnSpc>
              <a:spcBef>
                <a:spcPts val="1000"/>
              </a:spcBef>
              <a:spcAft>
                <a:spcPts val="0"/>
              </a:spcAft>
              <a:buSzPts val="1920"/>
              <a:buChar char="►"/>
            </a:pPr>
            <a:r>
              <a:rPr lang="en-US" sz="2400">
                <a:latin typeface="Trebuchet MS"/>
                <a:ea typeface="Trebuchet MS"/>
                <a:cs typeface="Trebuchet MS"/>
                <a:sym typeface="Trebuchet MS"/>
              </a:rPr>
              <a:t>Investigational Products:</a:t>
            </a:r>
            <a:endParaRPr sz="2400">
              <a:latin typeface="Trebuchet MS"/>
              <a:ea typeface="Trebuchet MS"/>
              <a:cs typeface="Trebuchet MS"/>
              <a:sym typeface="Trebuchet MS"/>
            </a:endParaRPr>
          </a:p>
          <a:p>
            <a:pPr indent="-346710" lvl="1" marL="742950" rtl="0" algn="l">
              <a:lnSpc>
                <a:spcPct val="90000"/>
              </a:lnSpc>
              <a:spcBef>
                <a:spcPts val="1000"/>
              </a:spcBef>
              <a:spcAft>
                <a:spcPts val="0"/>
              </a:spcAft>
              <a:buSzPts val="2400"/>
              <a:buChar char="–"/>
            </a:pPr>
            <a:r>
              <a:rPr lang="en-US" sz="2400"/>
              <a:t>FDA requires causality assessments</a:t>
            </a:r>
            <a:endParaRPr sz="24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5400"/>
              <a:buFont typeface="Trebuchet MS"/>
              <a:buNone/>
            </a:pPr>
            <a:r>
              <a:rPr b="1" lang="en-US" sz="5400">
                <a:solidFill>
                  <a:srgbClr val="0000FF"/>
                </a:solidFill>
              </a:rPr>
              <a:t>Determining Causality</a:t>
            </a:r>
            <a:endParaRPr/>
          </a:p>
        </p:txBody>
      </p:sp>
      <p:sp>
        <p:nvSpPr>
          <p:cNvPr id="280" name="Google Shape;280;p38"/>
          <p:cNvSpPr txBox="1"/>
          <p:nvPr>
            <p:ph idx="1" type="body"/>
          </p:nvPr>
        </p:nvSpPr>
        <p:spPr>
          <a:xfrm>
            <a:off x="677324" y="1790200"/>
            <a:ext cx="9435900" cy="3880800"/>
          </a:xfrm>
          <a:prstGeom prst="rect">
            <a:avLst/>
          </a:prstGeom>
          <a:noFill/>
          <a:ln>
            <a:noFill/>
          </a:ln>
        </p:spPr>
        <p:txBody>
          <a:bodyPr anchorCtr="0" anchor="t" bIns="45700" lIns="91425" spcFirstLastPara="1" rIns="91425" wrap="square" tIns="45700">
            <a:noAutofit/>
          </a:bodyPr>
          <a:lstStyle/>
          <a:p>
            <a:pPr indent="0" lvl="0" marL="0" rtl="0" algn="l">
              <a:spcBef>
                <a:spcPts val="1000"/>
              </a:spcBef>
              <a:spcAft>
                <a:spcPts val="0"/>
              </a:spcAft>
              <a:buNone/>
            </a:pPr>
            <a:r>
              <a:rPr b="1" lang="en-US" sz="2400"/>
              <a:t>Tools developed to assist with determining the probability that a particular drug caused an adverse event</a:t>
            </a:r>
            <a:endParaRPr b="1" sz="2400"/>
          </a:p>
          <a:p>
            <a:pPr indent="0" lvl="0" marL="0" rtl="0" algn="l">
              <a:spcBef>
                <a:spcPts val="1000"/>
              </a:spcBef>
              <a:spcAft>
                <a:spcPts val="0"/>
              </a:spcAft>
              <a:buNone/>
            </a:pPr>
            <a:r>
              <a:t/>
            </a:r>
            <a:endParaRPr b="1" sz="2400"/>
          </a:p>
          <a:p>
            <a:pPr indent="-388620" lvl="0" marL="342900" rtl="0" algn="l">
              <a:spcBef>
                <a:spcPts val="1000"/>
              </a:spcBef>
              <a:spcAft>
                <a:spcPts val="0"/>
              </a:spcAft>
              <a:buSzPts val="2200"/>
              <a:buChar char="►"/>
            </a:pPr>
            <a:r>
              <a:rPr lang="en-US" sz="2200"/>
              <a:t>Dechallenge</a:t>
            </a:r>
            <a:endParaRPr sz="2200"/>
          </a:p>
          <a:p>
            <a:pPr indent="-331470" lvl="1" marL="742950" rtl="0" algn="l">
              <a:spcBef>
                <a:spcPts val="1000"/>
              </a:spcBef>
              <a:spcAft>
                <a:spcPts val="0"/>
              </a:spcAft>
              <a:buSzPts val="2200"/>
              <a:buChar char="►"/>
            </a:pPr>
            <a:r>
              <a:rPr lang="en-US" sz="2200"/>
              <a:t>When the drug is discontinued, the patient is then monitored to determine whether the ADR abates or decreases in intensity</a:t>
            </a:r>
            <a:endParaRPr sz="2200"/>
          </a:p>
          <a:p>
            <a:pPr indent="-388620" lvl="0" marL="342900" rtl="0" algn="l">
              <a:spcBef>
                <a:spcPts val="1000"/>
              </a:spcBef>
              <a:spcAft>
                <a:spcPts val="0"/>
              </a:spcAft>
              <a:buSzPts val="2200"/>
              <a:buChar char="►"/>
            </a:pPr>
            <a:r>
              <a:rPr lang="en-US" sz="2200"/>
              <a:t>Rechallenge</a:t>
            </a:r>
            <a:endParaRPr sz="2200"/>
          </a:p>
          <a:p>
            <a:pPr indent="-331470" lvl="1" marL="742950" rtl="0" algn="l">
              <a:spcBef>
                <a:spcPts val="1000"/>
              </a:spcBef>
              <a:spcAft>
                <a:spcPts val="0"/>
              </a:spcAft>
              <a:buSzPts val="2200"/>
              <a:buChar char="►"/>
            </a:pPr>
            <a:r>
              <a:rPr lang="en-US" sz="2200"/>
              <a:t>When the drug is discontinued, after the ADR abates, the same drug is administered in an attempt to elicit the response again</a:t>
            </a:r>
            <a:endParaRPr sz="22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4400"/>
              <a:buFont typeface="Trebuchet MS"/>
              <a:buNone/>
            </a:pPr>
            <a:r>
              <a:rPr b="1" lang="en-US" sz="4400">
                <a:solidFill>
                  <a:srgbClr val="0000FF"/>
                </a:solidFill>
              </a:rPr>
              <a:t>Determining Causality (cont’d)</a:t>
            </a:r>
            <a:endParaRPr/>
          </a:p>
        </p:txBody>
      </p:sp>
      <p:sp>
        <p:nvSpPr>
          <p:cNvPr id="287" name="Google Shape;287;p39"/>
          <p:cNvSpPr txBox="1"/>
          <p:nvPr>
            <p:ph idx="1" type="body"/>
          </p:nvPr>
        </p:nvSpPr>
        <p:spPr>
          <a:xfrm>
            <a:off x="677334" y="1930401"/>
            <a:ext cx="8596668" cy="411096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SzPts val="1920"/>
              <a:buChar char="►"/>
            </a:pPr>
            <a:r>
              <a:rPr b="1" lang="en-US" sz="2400"/>
              <a:t>Kramer Method (1979)</a:t>
            </a:r>
            <a:endParaRPr/>
          </a:p>
          <a:p>
            <a:pPr indent="-285750" lvl="1" marL="742950" rtl="0" algn="l">
              <a:lnSpc>
                <a:spcPct val="90000"/>
              </a:lnSpc>
              <a:spcBef>
                <a:spcPts val="1000"/>
              </a:spcBef>
              <a:spcAft>
                <a:spcPts val="0"/>
              </a:spcAft>
              <a:buSzPts val="1920"/>
              <a:buChar char="►"/>
            </a:pPr>
            <a:r>
              <a:rPr b="1" lang="en-US" sz="2400"/>
              <a:t>56 yes or no questions</a:t>
            </a:r>
            <a:endParaRPr/>
          </a:p>
          <a:p>
            <a:pPr indent="-285750" lvl="1" marL="742950" rtl="0" algn="l">
              <a:lnSpc>
                <a:spcPct val="90000"/>
              </a:lnSpc>
              <a:spcBef>
                <a:spcPts val="1000"/>
              </a:spcBef>
              <a:spcAft>
                <a:spcPts val="0"/>
              </a:spcAft>
              <a:buSzPts val="1920"/>
              <a:buChar char="►"/>
            </a:pPr>
            <a:r>
              <a:rPr b="1" lang="en-US" sz="2400"/>
              <a:t>P</a:t>
            </a:r>
            <a:r>
              <a:rPr b="1" lang="en-US" sz="2400"/>
              <a:t>atient’s previous experience with the drug or related drugs, alternative etiologies, timing of events, drug concentrations, dechallenge, and rechallenge</a:t>
            </a:r>
            <a:endParaRPr b="1" sz="2400"/>
          </a:p>
          <a:p>
            <a:pPr indent="-285750" lvl="1" marL="742950" rtl="0" algn="l">
              <a:lnSpc>
                <a:spcPct val="90000"/>
              </a:lnSpc>
              <a:spcBef>
                <a:spcPts val="1000"/>
              </a:spcBef>
              <a:spcAft>
                <a:spcPts val="0"/>
              </a:spcAft>
              <a:buSzPts val="1920"/>
              <a:buChar char="►"/>
            </a:pPr>
            <a:r>
              <a:rPr b="1" lang="en-US" sz="2400"/>
              <a:t>Responses to each question are given a weighted value and these values are totaled</a:t>
            </a:r>
            <a:endParaRPr/>
          </a:p>
          <a:p>
            <a:pPr indent="-285750" lvl="1" marL="742950" rtl="0" algn="l">
              <a:lnSpc>
                <a:spcPct val="90000"/>
              </a:lnSpc>
              <a:spcBef>
                <a:spcPts val="1000"/>
              </a:spcBef>
              <a:spcAft>
                <a:spcPts val="0"/>
              </a:spcAft>
              <a:buSzPts val="1920"/>
              <a:buChar char="►"/>
            </a:pPr>
            <a:r>
              <a:rPr b="1" lang="en-US" sz="2400"/>
              <a:t>The total value then correlates to one of four categories: unlikely, possible, probable, or definite</a:t>
            </a:r>
            <a:endParaRPr/>
          </a:p>
          <a:p>
            <a:pPr indent="-251460" lvl="0" marL="342900" rtl="0" algn="l">
              <a:lnSpc>
                <a:spcPct val="90000"/>
              </a:lnSpc>
              <a:spcBef>
                <a:spcPts val="1000"/>
              </a:spcBef>
              <a:spcAft>
                <a:spcPts val="0"/>
              </a:spcAft>
              <a:buSzPts val="144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4400"/>
              <a:buFont typeface="Trebuchet MS"/>
              <a:buNone/>
            </a:pPr>
            <a:r>
              <a:rPr b="1" lang="en-US" sz="4400">
                <a:solidFill>
                  <a:srgbClr val="0000FF"/>
                </a:solidFill>
              </a:rPr>
              <a:t>Determining Causality (cont’d)</a:t>
            </a:r>
            <a:endParaRPr/>
          </a:p>
        </p:txBody>
      </p:sp>
      <p:sp>
        <p:nvSpPr>
          <p:cNvPr id="294" name="Google Shape;294;p40"/>
          <p:cNvSpPr txBox="1"/>
          <p:nvPr>
            <p:ph idx="1" type="body"/>
          </p:nvPr>
        </p:nvSpPr>
        <p:spPr>
          <a:xfrm>
            <a:off x="677334" y="1757363"/>
            <a:ext cx="8596668" cy="4283999"/>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00"/>
              <a:buChar char="►"/>
            </a:pPr>
            <a:r>
              <a:rPr b="1" lang="en-US" sz="2000"/>
              <a:t>Naranjo Algorithm (1981)</a:t>
            </a:r>
            <a:endParaRPr/>
          </a:p>
          <a:p>
            <a:pPr indent="-285750" lvl="1" marL="742950" rtl="0" algn="l">
              <a:spcBef>
                <a:spcPts val="1000"/>
              </a:spcBef>
              <a:spcAft>
                <a:spcPts val="0"/>
              </a:spcAft>
              <a:buSzPts val="1600"/>
              <a:buChar char="►"/>
            </a:pPr>
            <a:r>
              <a:rPr b="1" lang="en-US" sz="2000"/>
              <a:t>10 questions involving the following areas:</a:t>
            </a:r>
            <a:endParaRPr/>
          </a:p>
          <a:p>
            <a:pPr indent="-228600" lvl="2" marL="1143000" rtl="0" algn="l">
              <a:spcBef>
                <a:spcPts val="1000"/>
              </a:spcBef>
              <a:spcAft>
                <a:spcPts val="0"/>
              </a:spcAft>
              <a:buSzPts val="1600"/>
              <a:buChar char="►"/>
            </a:pPr>
            <a:r>
              <a:rPr b="1" lang="en-US" sz="2000"/>
              <a:t>temporal relationship, pattern of response, dechallenge or administration of an antagonist, rechallenge, alternative causes, placebo response, drug level in the body fluids or tissue, dose-response relationship, previous patient experience with the drug, and confirmation by any other objective evidence</a:t>
            </a:r>
            <a:endParaRPr/>
          </a:p>
          <a:p>
            <a:pPr indent="-285750" lvl="1" marL="742950" rtl="0" algn="l">
              <a:spcBef>
                <a:spcPts val="1000"/>
              </a:spcBef>
              <a:spcAft>
                <a:spcPts val="0"/>
              </a:spcAft>
              <a:buSzPts val="1600"/>
              <a:buChar char="►"/>
            </a:pPr>
            <a:r>
              <a:rPr b="1" lang="en-US" sz="2000"/>
              <a:t>S</a:t>
            </a:r>
            <a:r>
              <a:rPr b="1" lang="en-US" sz="2000"/>
              <a:t>core is totaled and placed into a category from definite to doubtful</a:t>
            </a:r>
            <a:endParaRPr/>
          </a:p>
          <a:p>
            <a:pPr indent="-285750" lvl="1" marL="742950" rtl="0" algn="l">
              <a:spcBef>
                <a:spcPts val="1000"/>
              </a:spcBef>
              <a:spcAft>
                <a:spcPts val="0"/>
              </a:spcAft>
              <a:buSzPts val="1600"/>
              <a:buChar char="►"/>
            </a:pPr>
            <a:r>
              <a:rPr b="1" lang="en-US" sz="2000"/>
              <a:t>O</a:t>
            </a:r>
            <a:r>
              <a:rPr b="1" lang="en-US" sz="2000"/>
              <a:t>ne of the most commonly used methods to assess adverse drug reaction causality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4320"/>
              <a:buFont typeface="Trebuchet MS"/>
              <a:buNone/>
            </a:pPr>
            <a:r>
              <a:rPr b="1" lang="en-US" sz="4320">
                <a:solidFill>
                  <a:srgbClr val="0000FF"/>
                </a:solidFill>
              </a:rPr>
              <a:t>Determining Causality (cont’d)</a:t>
            </a:r>
            <a:endParaRPr/>
          </a:p>
        </p:txBody>
      </p:sp>
      <p:sp>
        <p:nvSpPr>
          <p:cNvPr id="301" name="Google Shape;301;p41"/>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560"/>
              <a:buChar char="►"/>
            </a:pPr>
            <a:r>
              <a:rPr b="1" lang="en-US" sz="3200"/>
              <a:t>Jones Method (1982)</a:t>
            </a:r>
            <a:endParaRPr/>
          </a:p>
          <a:p>
            <a:pPr indent="-285750" lvl="1" marL="742950" rtl="0" algn="l">
              <a:spcBef>
                <a:spcPts val="1000"/>
              </a:spcBef>
              <a:spcAft>
                <a:spcPts val="0"/>
              </a:spcAft>
              <a:buSzPts val="2560"/>
              <a:buChar char="►"/>
            </a:pPr>
            <a:r>
              <a:rPr b="1" lang="en-US" sz="3200"/>
              <a:t>S</a:t>
            </a:r>
            <a:r>
              <a:rPr b="1" lang="en-US" sz="3200"/>
              <a:t>eries of yes or no questions</a:t>
            </a:r>
            <a:endParaRPr/>
          </a:p>
          <a:p>
            <a:pPr indent="-285750" lvl="1" marL="742950" rtl="0" algn="l">
              <a:spcBef>
                <a:spcPts val="1000"/>
              </a:spcBef>
              <a:spcAft>
                <a:spcPts val="0"/>
              </a:spcAft>
              <a:buSzPts val="2560"/>
              <a:buChar char="►"/>
            </a:pPr>
            <a:r>
              <a:rPr b="1" lang="en-US" sz="3200"/>
              <a:t>Similar questions to Kramer’s method and Naranjo algorithm but does not have score</a:t>
            </a:r>
            <a:endParaRPr/>
          </a:p>
          <a:p>
            <a:pPr indent="-285750" lvl="1" marL="742950" rtl="0" algn="l">
              <a:spcBef>
                <a:spcPts val="1000"/>
              </a:spcBef>
              <a:spcAft>
                <a:spcPts val="0"/>
              </a:spcAft>
              <a:buSzPts val="2560"/>
              <a:buChar char="►"/>
            </a:pPr>
            <a:r>
              <a:rPr b="1" lang="en-US" sz="3200"/>
              <a:t>D</a:t>
            </a:r>
            <a:r>
              <a:rPr b="1" lang="en-US" sz="3200"/>
              <a:t>esigned for use in a community health setting</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4400"/>
              <a:buFont typeface="Trebuchet MS"/>
              <a:buNone/>
            </a:pPr>
            <a:r>
              <a:rPr b="1" lang="en-US" sz="4400">
                <a:solidFill>
                  <a:srgbClr val="0000FF"/>
                </a:solidFill>
              </a:rPr>
              <a:t>AE Reporting for Vaccines</a:t>
            </a:r>
            <a:endParaRPr/>
          </a:p>
        </p:txBody>
      </p:sp>
      <p:sp>
        <p:nvSpPr>
          <p:cNvPr id="308" name="Google Shape;308;p42"/>
          <p:cNvSpPr txBox="1"/>
          <p:nvPr>
            <p:ph idx="1" type="body"/>
          </p:nvPr>
        </p:nvSpPr>
        <p:spPr>
          <a:xfrm>
            <a:off x="677334" y="1414463"/>
            <a:ext cx="8596800" cy="4900500"/>
          </a:xfrm>
          <a:prstGeom prst="rect">
            <a:avLst/>
          </a:prstGeom>
          <a:noFill/>
          <a:ln>
            <a:noFill/>
          </a:ln>
        </p:spPr>
        <p:txBody>
          <a:bodyPr anchorCtr="0" anchor="t" bIns="45700" lIns="91425" spcFirstLastPara="1" rIns="91425" wrap="square" tIns="45700">
            <a:noAutofit/>
          </a:bodyPr>
          <a:lstStyle/>
          <a:p>
            <a:pPr indent="-414020" lvl="0" marL="342900" rtl="0" algn="l">
              <a:spcBef>
                <a:spcPts val="0"/>
              </a:spcBef>
              <a:spcAft>
                <a:spcPts val="0"/>
              </a:spcAft>
              <a:buSzPts val="2400"/>
              <a:buChar char="►"/>
            </a:pPr>
            <a:r>
              <a:rPr b="1" lang="en-US" sz="2400"/>
              <a:t>Vaccine Adverse Event Reporting System (VAERS)</a:t>
            </a:r>
            <a:endParaRPr sz="2400"/>
          </a:p>
          <a:p>
            <a:pPr indent="-356870" lvl="1" marL="742950" rtl="0" algn="l">
              <a:spcBef>
                <a:spcPts val="1000"/>
              </a:spcBef>
              <a:spcAft>
                <a:spcPts val="0"/>
              </a:spcAft>
              <a:buSzPts val="2400"/>
              <a:buChar char="►"/>
            </a:pPr>
            <a:r>
              <a:rPr lang="en-US" sz="2400"/>
              <a:t>C</a:t>
            </a:r>
            <a:r>
              <a:rPr lang="en-US" sz="2400"/>
              <a:t>reated as an outgrowth of the National Childhood Vaccine Injury Act of 1986 (NCVIA) </a:t>
            </a:r>
            <a:endParaRPr sz="2400"/>
          </a:p>
          <a:p>
            <a:pPr indent="-356870" lvl="1" marL="742950" rtl="0" algn="l">
              <a:spcBef>
                <a:spcPts val="1000"/>
              </a:spcBef>
              <a:spcAft>
                <a:spcPts val="0"/>
              </a:spcAft>
              <a:buSzPts val="2400"/>
              <a:buChar char="►"/>
            </a:pPr>
            <a:r>
              <a:rPr lang="en-US" sz="2400"/>
              <a:t>N</a:t>
            </a:r>
            <a:r>
              <a:rPr lang="en-US" sz="2400"/>
              <a:t>ational vaccine safety surveillance program co-sponsored by the Food and Drug Administration (FDA) and the Centers for Disease Control and Prevention (CDC)</a:t>
            </a:r>
            <a:endParaRPr sz="2400"/>
          </a:p>
          <a:p>
            <a:pPr indent="-356870" lvl="1" marL="742950" rtl="0" algn="l">
              <a:spcBef>
                <a:spcPts val="1000"/>
              </a:spcBef>
              <a:spcAft>
                <a:spcPts val="0"/>
              </a:spcAft>
              <a:buSzPts val="2400"/>
              <a:buChar char="►"/>
            </a:pPr>
            <a:r>
              <a:rPr lang="en-US" sz="2400"/>
              <a:t>85% of adverse events reported to VAERS are minor (mild fevers or redness and swelling at the injection site); serious events include hospitalizations, life-threatening events, and deaths</a:t>
            </a:r>
            <a:endParaRPr sz="24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3"/>
          <p:cNvSpPr txBox="1"/>
          <p:nvPr>
            <p:ph type="title"/>
          </p:nvPr>
        </p:nvSpPr>
        <p:spPr>
          <a:xfrm>
            <a:off x="677324" y="609600"/>
            <a:ext cx="9318000" cy="1320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4400"/>
              <a:buFont typeface="Trebuchet MS"/>
              <a:buNone/>
            </a:pPr>
            <a:r>
              <a:rPr b="1" lang="en-US" sz="4400">
                <a:solidFill>
                  <a:srgbClr val="0000FF"/>
                </a:solidFill>
              </a:rPr>
              <a:t>AE Reporting for Vaccines (cont’d)</a:t>
            </a:r>
            <a:endParaRPr/>
          </a:p>
        </p:txBody>
      </p:sp>
      <p:sp>
        <p:nvSpPr>
          <p:cNvPr id="315" name="Google Shape;315;p43"/>
          <p:cNvSpPr txBox="1"/>
          <p:nvPr>
            <p:ph idx="1" type="body"/>
          </p:nvPr>
        </p:nvSpPr>
        <p:spPr>
          <a:xfrm>
            <a:off x="677325" y="1783824"/>
            <a:ext cx="8596800" cy="4531200"/>
          </a:xfrm>
          <a:prstGeom prst="rect">
            <a:avLst/>
          </a:prstGeom>
          <a:noFill/>
          <a:ln>
            <a:noFill/>
          </a:ln>
        </p:spPr>
        <p:txBody>
          <a:bodyPr anchorCtr="0" anchor="t" bIns="45700" lIns="91425" spcFirstLastPara="1" rIns="91425" wrap="square" tIns="45700">
            <a:noAutofit/>
          </a:bodyPr>
          <a:lstStyle/>
          <a:p>
            <a:pPr indent="-414020" lvl="0" marL="342900" rtl="0" algn="l">
              <a:spcBef>
                <a:spcPts val="0"/>
              </a:spcBef>
              <a:spcAft>
                <a:spcPts val="0"/>
              </a:spcAft>
              <a:buSzPts val="2400"/>
              <a:buChar char="►"/>
            </a:pPr>
            <a:r>
              <a:rPr b="1" lang="en-US" sz="2400"/>
              <a:t>Vaccine Adverse Event Reporting System (VAERS)</a:t>
            </a:r>
            <a:endParaRPr sz="2400"/>
          </a:p>
          <a:p>
            <a:pPr indent="-356870" lvl="1" marL="742950" rtl="0" algn="l">
              <a:spcBef>
                <a:spcPts val="1000"/>
              </a:spcBef>
              <a:spcAft>
                <a:spcPts val="0"/>
              </a:spcAft>
              <a:buSzPts val="2400"/>
              <a:buChar char="►"/>
            </a:pPr>
            <a:r>
              <a:rPr lang="en-US" sz="2400"/>
              <a:t>Patients, parents, health care providers, pharmacists and vaccine manufacturers</a:t>
            </a:r>
            <a:endParaRPr sz="2400"/>
          </a:p>
          <a:p>
            <a:pPr indent="-356870" lvl="1" marL="742950" rtl="0" algn="l">
              <a:spcBef>
                <a:spcPts val="1000"/>
              </a:spcBef>
              <a:spcAft>
                <a:spcPts val="0"/>
              </a:spcAft>
              <a:buSzPts val="2400"/>
              <a:buChar char="►"/>
            </a:pPr>
            <a:r>
              <a:rPr lang="en-US" sz="2400"/>
              <a:t>Three ways to report to VAERS:</a:t>
            </a:r>
            <a:endParaRPr sz="2400"/>
          </a:p>
          <a:p>
            <a:pPr indent="-299720" lvl="2" marL="1143000" rtl="0" algn="l">
              <a:spcBef>
                <a:spcPts val="1000"/>
              </a:spcBef>
              <a:spcAft>
                <a:spcPts val="0"/>
              </a:spcAft>
              <a:buSzPts val="2400"/>
              <a:buChar char="►"/>
            </a:pPr>
            <a:r>
              <a:rPr lang="en-US" sz="2400"/>
              <a:t>Online: </a:t>
            </a:r>
            <a:r>
              <a:rPr lang="en-US" sz="2400" u="sng">
                <a:solidFill>
                  <a:schemeClr val="hlink"/>
                </a:solidFill>
                <a:hlinkClick r:id="rId3"/>
              </a:rPr>
              <a:t>https://vaers.hhs.gov/esub/step1</a:t>
            </a:r>
            <a:r>
              <a:rPr lang="en-US" sz="2400"/>
              <a:t> </a:t>
            </a:r>
            <a:endParaRPr sz="2400"/>
          </a:p>
          <a:p>
            <a:pPr indent="-299720" lvl="2" marL="1143000" rtl="0" algn="l">
              <a:spcBef>
                <a:spcPts val="1000"/>
              </a:spcBef>
              <a:spcAft>
                <a:spcPts val="0"/>
              </a:spcAft>
              <a:buSzPts val="2400"/>
              <a:buChar char="►"/>
            </a:pPr>
            <a:r>
              <a:rPr lang="en-US" sz="2400"/>
              <a:t>Fax: (877) 721-0366</a:t>
            </a:r>
            <a:endParaRPr sz="2400"/>
          </a:p>
          <a:p>
            <a:pPr indent="-299720" lvl="2" marL="1143000" rtl="0" algn="l">
              <a:spcBef>
                <a:spcPts val="1000"/>
              </a:spcBef>
              <a:spcAft>
                <a:spcPts val="0"/>
              </a:spcAft>
              <a:buSzPts val="2400"/>
              <a:buChar char="►"/>
            </a:pPr>
            <a:r>
              <a:rPr lang="en-US" sz="2400"/>
              <a:t>Mail: VAERS, P.O. Box 1100, Rockville, MD 20849-1100</a:t>
            </a:r>
            <a:endParaRPr sz="24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4"/>
          <p:cNvSpPr txBox="1"/>
          <p:nvPr>
            <p:ph type="title"/>
          </p:nvPr>
        </p:nvSpPr>
        <p:spPr>
          <a:xfrm>
            <a:off x="677324" y="609600"/>
            <a:ext cx="9214800" cy="1320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4400"/>
              <a:buFont typeface="Trebuchet MS"/>
              <a:buNone/>
            </a:pPr>
            <a:r>
              <a:rPr b="1" lang="en-US" sz="4400">
                <a:solidFill>
                  <a:srgbClr val="0000FF"/>
                </a:solidFill>
              </a:rPr>
              <a:t>AE Reporting for Other Products</a:t>
            </a:r>
            <a:endParaRPr/>
          </a:p>
        </p:txBody>
      </p:sp>
      <p:sp>
        <p:nvSpPr>
          <p:cNvPr id="321" name="Google Shape;321;p44"/>
          <p:cNvSpPr txBox="1"/>
          <p:nvPr>
            <p:ph idx="1" type="body"/>
          </p:nvPr>
        </p:nvSpPr>
        <p:spPr>
          <a:xfrm>
            <a:off x="677334" y="1709275"/>
            <a:ext cx="8596800" cy="41847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00"/>
              <a:buChar char="►"/>
            </a:pPr>
            <a:r>
              <a:rPr lang="en-US" sz="2000"/>
              <a:t>Dietary Supplements</a:t>
            </a:r>
            <a:endParaRPr/>
          </a:p>
          <a:p>
            <a:pPr indent="-285750" lvl="1" marL="742950" rtl="0" algn="l">
              <a:spcBef>
                <a:spcPts val="1000"/>
              </a:spcBef>
              <a:spcAft>
                <a:spcPts val="0"/>
              </a:spcAft>
              <a:buSzPts val="1600"/>
              <a:buChar char="►"/>
            </a:pPr>
            <a:r>
              <a:rPr lang="en-US" sz="2000"/>
              <a:t>Reports can be submitted using Safety Reporting Portal</a:t>
            </a:r>
            <a:endParaRPr/>
          </a:p>
          <a:p>
            <a:pPr indent="-285750" lvl="1" marL="742950" rtl="0" algn="l">
              <a:spcBef>
                <a:spcPts val="1000"/>
              </a:spcBef>
              <a:spcAft>
                <a:spcPts val="0"/>
              </a:spcAft>
              <a:buSzPts val="1600"/>
              <a:buChar char="►"/>
            </a:pPr>
            <a:r>
              <a:rPr lang="en-US" sz="2000"/>
              <a:t>For consumers and manufacturers</a:t>
            </a:r>
            <a:endParaRPr/>
          </a:p>
          <a:p>
            <a:pPr indent="-285750" lvl="1" marL="742950" rtl="0" algn="l">
              <a:spcBef>
                <a:spcPts val="1000"/>
              </a:spcBef>
              <a:spcAft>
                <a:spcPts val="0"/>
              </a:spcAft>
              <a:buSzPts val="1600"/>
              <a:buChar char="►"/>
            </a:pPr>
            <a:r>
              <a:rPr lang="en-US" sz="2000" u="sng">
                <a:solidFill>
                  <a:schemeClr val="hlink"/>
                </a:solidFill>
                <a:hlinkClick r:id="rId3"/>
              </a:rPr>
              <a:t>http://www.safetyreporting.hhs.gov/</a:t>
            </a:r>
            <a:r>
              <a:rPr lang="en-US" sz="2000"/>
              <a:t> </a:t>
            </a:r>
            <a:endParaRPr sz="2000"/>
          </a:p>
          <a:p>
            <a:pPr indent="0" lvl="0" marL="742950" rtl="0" algn="l">
              <a:spcBef>
                <a:spcPts val="1000"/>
              </a:spcBef>
              <a:spcAft>
                <a:spcPts val="0"/>
              </a:spcAft>
              <a:buNone/>
            </a:pPr>
            <a:r>
              <a:t/>
            </a:r>
            <a:endParaRPr sz="2000"/>
          </a:p>
          <a:p>
            <a:pPr indent="-342900" lvl="0" marL="342900" rtl="0" algn="l">
              <a:spcBef>
                <a:spcPts val="1000"/>
              </a:spcBef>
              <a:spcAft>
                <a:spcPts val="0"/>
              </a:spcAft>
              <a:buSzPts val="1600"/>
              <a:buChar char="►"/>
            </a:pPr>
            <a:r>
              <a:rPr lang="en-US" sz="2000"/>
              <a:t>Animal Drugs and Devices</a:t>
            </a:r>
            <a:endParaRPr/>
          </a:p>
          <a:p>
            <a:pPr indent="-285750" lvl="1" marL="742950" rtl="0" algn="l">
              <a:spcBef>
                <a:spcPts val="1000"/>
              </a:spcBef>
              <a:spcAft>
                <a:spcPts val="0"/>
              </a:spcAft>
              <a:buSzPts val="1600"/>
              <a:buChar char="►"/>
            </a:pPr>
            <a:r>
              <a:rPr lang="en-US" sz="2000"/>
              <a:t>Call manufacturer to report AE</a:t>
            </a:r>
            <a:endParaRPr/>
          </a:p>
          <a:p>
            <a:pPr indent="-285750" lvl="1" marL="742950" rtl="0" algn="l">
              <a:spcBef>
                <a:spcPts val="1000"/>
              </a:spcBef>
              <a:spcAft>
                <a:spcPts val="0"/>
              </a:spcAft>
              <a:buSzPts val="1600"/>
              <a:buChar char="►"/>
            </a:pPr>
            <a:r>
              <a:rPr lang="en-US" sz="2000"/>
              <a:t>Submit Form FDA 1932a to FDA</a:t>
            </a:r>
            <a:endParaRPr/>
          </a:p>
          <a:p>
            <a:pPr indent="-285750" lvl="1" marL="742950" rtl="0" algn="l">
              <a:spcBef>
                <a:spcPts val="1000"/>
              </a:spcBef>
              <a:spcAft>
                <a:spcPts val="0"/>
              </a:spcAft>
              <a:buSzPts val="1600"/>
              <a:buChar char="►"/>
            </a:pPr>
            <a:r>
              <a:rPr lang="en-US" sz="2000" u="sng">
                <a:solidFill>
                  <a:schemeClr val="hlink"/>
                </a:solidFill>
                <a:hlinkClick r:id="rId4"/>
              </a:rPr>
              <a:t>http://www.fda.gov/animalveterinary/safetyhealth/reportaproblem/ucm055305.htm</a:t>
            </a:r>
            <a:r>
              <a:rPr lang="en-US" sz="2000"/>
              <a:t> </a:t>
            </a:r>
            <a:endParaRPr/>
          </a:p>
          <a:p>
            <a:pPr indent="-204470" lvl="1" marL="742950" rtl="0" algn="l">
              <a:spcBef>
                <a:spcPts val="1000"/>
              </a:spcBef>
              <a:spcAft>
                <a:spcPts val="0"/>
              </a:spcAft>
              <a:buSzPts val="128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3600"/>
              <a:buFont typeface="Trebuchet MS"/>
              <a:buNone/>
            </a:pPr>
            <a:r>
              <a:rPr b="1" lang="en-US">
                <a:solidFill>
                  <a:srgbClr val="0000FF"/>
                </a:solidFill>
              </a:rPr>
              <a:t>References</a:t>
            </a:r>
            <a:endParaRPr/>
          </a:p>
        </p:txBody>
      </p:sp>
      <p:sp>
        <p:nvSpPr>
          <p:cNvPr id="328" name="Google Shape;328;p45"/>
          <p:cNvSpPr txBox="1"/>
          <p:nvPr>
            <p:ph idx="1" type="body"/>
          </p:nvPr>
        </p:nvSpPr>
        <p:spPr>
          <a:xfrm>
            <a:off x="677334" y="1500189"/>
            <a:ext cx="8596668" cy="514368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008"/>
              <a:buChar char="►"/>
            </a:pPr>
            <a:r>
              <a:rPr lang="en-US" sz="1260"/>
              <a:t>Food and Drug Administration: Code of Federal Regulations Title 21. </a:t>
            </a:r>
            <a:r>
              <a:rPr lang="en-US" sz="1260" u="sng">
                <a:solidFill>
                  <a:schemeClr val="hlink"/>
                </a:solidFill>
                <a:hlinkClick r:id="rId3"/>
              </a:rPr>
              <a:t>http://www.accessdata.fda.gov/scripts/cdrh/cfdocs/cfcfr/CFRSearch.cfm?fr=312.32</a:t>
            </a:r>
            <a:r>
              <a:rPr lang="en-US" sz="1260"/>
              <a:t>.  Accessed April 10, 2019. </a:t>
            </a:r>
            <a:endParaRPr/>
          </a:p>
          <a:p>
            <a:pPr indent="-342900" lvl="0" marL="342900" rtl="0" algn="l">
              <a:lnSpc>
                <a:spcPct val="80000"/>
              </a:lnSpc>
              <a:spcBef>
                <a:spcPts val="1000"/>
              </a:spcBef>
              <a:spcAft>
                <a:spcPts val="0"/>
              </a:spcAft>
              <a:buSzPts val="1008"/>
              <a:buChar char="►"/>
            </a:pPr>
            <a:r>
              <a:rPr lang="en-US" sz="1260"/>
              <a:t>Food and Drug Administration: What is a serious adverse event? </a:t>
            </a:r>
            <a:r>
              <a:rPr lang="en-US" sz="1260" u="sng">
                <a:solidFill>
                  <a:schemeClr val="hlink"/>
                </a:solidFill>
                <a:hlinkClick r:id="rId4"/>
              </a:rPr>
              <a:t>http://www.fda.gov/Safety/MedWatch/HowToReport/ucm053087.htm</a:t>
            </a:r>
            <a:r>
              <a:rPr lang="en-US" sz="1260"/>
              <a:t>. Accessed </a:t>
            </a:r>
            <a:r>
              <a:rPr lang="en-US" sz="1260"/>
              <a:t>April 10, 2019</a:t>
            </a:r>
            <a:r>
              <a:rPr lang="en-US" sz="1260"/>
              <a:t>. </a:t>
            </a:r>
            <a:endParaRPr/>
          </a:p>
          <a:p>
            <a:pPr indent="-342900" lvl="0" marL="342900" rtl="0" algn="l">
              <a:lnSpc>
                <a:spcPct val="80000"/>
              </a:lnSpc>
              <a:spcBef>
                <a:spcPts val="1000"/>
              </a:spcBef>
              <a:spcAft>
                <a:spcPts val="0"/>
              </a:spcAft>
              <a:buSzPts val="1008"/>
              <a:buChar char="►"/>
            </a:pPr>
            <a:r>
              <a:rPr lang="en-US" sz="1260"/>
              <a:t>Food and Drug Administration: Vaccines, Drugs and Biologics. </a:t>
            </a:r>
            <a:r>
              <a:rPr lang="en-US" sz="1260" u="sng">
                <a:solidFill>
                  <a:schemeClr val="hlink"/>
                </a:solidFill>
                <a:hlinkClick r:id="rId5"/>
              </a:rPr>
              <a:t>http://www.fda.gov/BiologicsBloodVaccines/SafetyAvailability/ReportaProblem/VaccineAdverseEvents/Overview/default.htm</a:t>
            </a:r>
            <a:r>
              <a:rPr lang="en-US" sz="1260"/>
              <a:t>.  Accessed </a:t>
            </a:r>
            <a:r>
              <a:rPr lang="en-US" sz="1260"/>
              <a:t>April 10, 2019</a:t>
            </a:r>
            <a:r>
              <a:rPr lang="en-US" sz="1260"/>
              <a:t>. </a:t>
            </a:r>
            <a:endParaRPr/>
          </a:p>
          <a:p>
            <a:pPr indent="-342900" lvl="0" marL="342900" rtl="0" algn="l">
              <a:lnSpc>
                <a:spcPct val="80000"/>
              </a:lnSpc>
              <a:spcBef>
                <a:spcPts val="1000"/>
              </a:spcBef>
              <a:spcAft>
                <a:spcPts val="0"/>
              </a:spcAft>
              <a:buSzPts val="1008"/>
              <a:buChar char="►"/>
            </a:pPr>
            <a:r>
              <a:rPr lang="en-US" sz="1260"/>
              <a:t>World Health Organization. Glossary. </a:t>
            </a:r>
            <a:r>
              <a:rPr lang="en-US" sz="1260" u="sng">
                <a:solidFill>
                  <a:schemeClr val="hlink"/>
                </a:solidFill>
                <a:hlinkClick r:id="rId6"/>
              </a:rPr>
              <a:t>http://www.who.int/medicines/areas/coordination/English_Glossary.pdf</a:t>
            </a:r>
            <a:r>
              <a:rPr lang="en-US" sz="1260"/>
              <a:t>. Accessed </a:t>
            </a:r>
            <a:r>
              <a:rPr lang="en-US" sz="1260"/>
              <a:t>April 10, 2019</a:t>
            </a:r>
            <a:r>
              <a:rPr lang="en-US" sz="1260"/>
              <a:t>. </a:t>
            </a:r>
            <a:endParaRPr/>
          </a:p>
          <a:p>
            <a:pPr indent="-342900" lvl="0" marL="342900" rtl="0" algn="l">
              <a:lnSpc>
                <a:spcPct val="80000"/>
              </a:lnSpc>
              <a:spcBef>
                <a:spcPts val="1000"/>
              </a:spcBef>
              <a:spcAft>
                <a:spcPts val="0"/>
              </a:spcAft>
              <a:buSzPts val="1008"/>
              <a:buChar char="►"/>
            </a:pPr>
            <a:r>
              <a:rPr lang="en-US" sz="1260"/>
              <a:t>Food and Drug Administration: Reporting Serious Problems to FDA. </a:t>
            </a:r>
            <a:r>
              <a:rPr lang="en-US" sz="1260" u="sng">
                <a:solidFill>
                  <a:schemeClr val="hlink"/>
                </a:solidFill>
                <a:hlinkClick r:id="rId7"/>
              </a:rPr>
              <a:t>http://www.fda.gov/Safety/MedWatch/HowToReport/default.htm</a:t>
            </a:r>
            <a:r>
              <a:rPr lang="en-US" sz="1260"/>
              <a:t>.  Accessed </a:t>
            </a:r>
            <a:r>
              <a:rPr lang="en-US" sz="1260"/>
              <a:t>April 10, 2019</a:t>
            </a:r>
            <a:r>
              <a:rPr lang="en-US" sz="1260"/>
              <a:t>. </a:t>
            </a:r>
            <a:endParaRPr/>
          </a:p>
          <a:p>
            <a:pPr indent="-342900" lvl="0" marL="342900" rtl="0" algn="l">
              <a:lnSpc>
                <a:spcPct val="80000"/>
              </a:lnSpc>
              <a:spcBef>
                <a:spcPts val="1000"/>
              </a:spcBef>
              <a:spcAft>
                <a:spcPts val="0"/>
              </a:spcAft>
              <a:buSzPts val="1008"/>
              <a:buChar char="►"/>
            </a:pPr>
            <a:r>
              <a:rPr lang="en-US" sz="1260"/>
              <a:t>Cochrane Z, Hein D, Gregory PJ. Medication Misadventures I: Adverse Drug Reactions. In: Malone PM, Kier KL, Stanovich JE, Malone MJ. eds. </a:t>
            </a:r>
            <a:r>
              <a:rPr i="1" lang="en-US" sz="1260"/>
              <a:t>Drug Information: A Guide for Pharmacists 5e. </a:t>
            </a:r>
            <a:r>
              <a:rPr lang="en-US" sz="1260"/>
              <a:t>New York, NY: McGraw-Hill; 2013. http://accesspharmacy.mhmedical.com.www2.lib.ku.edu/content.aspx?bookid=981&amp;Sectionid=54480678. Accessed April 10, 2019.</a:t>
            </a:r>
            <a:endParaRPr/>
          </a:p>
          <a:p>
            <a:pPr indent="-342900" lvl="0" marL="342900" rtl="0" algn="l">
              <a:lnSpc>
                <a:spcPct val="80000"/>
              </a:lnSpc>
              <a:spcBef>
                <a:spcPts val="1000"/>
              </a:spcBef>
              <a:spcAft>
                <a:spcPts val="0"/>
              </a:spcAft>
              <a:buSzPts val="1008"/>
              <a:buChar char="►"/>
            </a:pPr>
            <a:r>
              <a:rPr lang="en-US" sz="1260"/>
              <a:t>Kramer  MS, Leventhal  JM, Hutchinson  TA, Feinstein  AR. An algorithm for the operational assessment of adverse drug reactions: I. Background, description, and instructions for use. </a:t>
            </a:r>
            <a:r>
              <a:rPr i="1" lang="en-US" sz="1260"/>
              <a:t>JAMA</a:t>
            </a:r>
            <a:r>
              <a:rPr lang="en-US" sz="1260"/>
              <a:t>. 1979;242:623—32.</a:t>
            </a:r>
            <a:endParaRPr/>
          </a:p>
          <a:p>
            <a:pPr indent="-342900" lvl="0" marL="342900" rtl="0" algn="l">
              <a:lnSpc>
                <a:spcPct val="80000"/>
              </a:lnSpc>
              <a:spcBef>
                <a:spcPts val="1000"/>
              </a:spcBef>
              <a:spcAft>
                <a:spcPts val="0"/>
              </a:spcAft>
              <a:buSzPts val="1008"/>
              <a:buChar char="►"/>
            </a:pPr>
            <a:r>
              <a:rPr lang="en-US" sz="1260"/>
              <a:t>Naranjo  CA, Busto  U, Sellers  EM  et al. A method of estimating the probability of adverse drug reactions. </a:t>
            </a:r>
            <a:r>
              <a:rPr i="1" lang="en-US" sz="1260"/>
              <a:t>Clin Pharmacol Ther. </a:t>
            </a:r>
            <a:r>
              <a:rPr lang="en-US" sz="1260"/>
              <a:t>1981;30:239-45.</a:t>
            </a:r>
            <a:endParaRPr/>
          </a:p>
          <a:p>
            <a:pPr indent="-342900" lvl="0" marL="342900" rtl="0" algn="l">
              <a:lnSpc>
                <a:spcPct val="80000"/>
              </a:lnSpc>
              <a:spcBef>
                <a:spcPts val="1000"/>
              </a:spcBef>
              <a:spcAft>
                <a:spcPts val="0"/>
              </a:spcAft>
              <a:buSzPts val="1008"/>
              <a:buChar char="►"/>
            </a:pPr>
            <a:r>
              <a:rPr lang="en-US" sz="1260"/>
              <a:t>Jones  JK. Adverse drug reactions in the community health setting: approaches to recognizing, counseling, and reporting. </a:t>
            </a:r>
            <a:r>
              <a:rPr i="1" lang="en-US" sz="1260"/>
              <a:t>Fam Comm Health</a:t>
            </a:r>
            <a:r>
              <a:rPr lang="en-US" sz="1260"/>
              <a:t>. 1982;5(2):58-67.</a:t>
            </a:r>
            <a:endParaRPr/>
          </a:p>
          <a:p>
            <a:pPr indent="-278892" lvl="0" marL="342900" rtl="0" algn="l">
              <a:lnSpc>
                <a:spcPct val="80000"/>
              </a:lnSpc>
              <a:spcBef>
                <a:spcPts val="1000"/>
              </a:spcBef>
              <a:spcAft>
                <a:spcPts val="0"/>
              </a:spcAft>
              <a:buSzPts val="1008"/>
              <a:buNone/>
            </a:pPr>
            <a:r>
              <a:t/>
            </a:r>
            <a:endParaRPr sz="1260"/>
          </a:p>
          <a:p>
            <a:pPr indent="-278892" lvl="0" marL="342900" rtl="0" algn="l">
              <a:lnSpc>
                <a:spcPct val="80000"/>
              </a:lnSpc>
              <a:spcBef>
                <a:spcPts val="1000"/>
              </a:spcBef>
              <a:spcAft>
                <a:spcPts val="0"/>
              </a:spcAft>
              <a:buSzPts val="1008"/>
              <a:buNone/>
            </a:pPr>
            <a:r>
              <a:t/>
            </a:r>
            <a:endParaRPr sz="1260"/>
          </a:p>
          <a:p>
            <a:pPr indent="-278892" lvl="0" marL="342900" rtl="0" algn="l">
              <a:lnSpc>
                <a:spcPct val="80000"/>
              </a:lnSpc>
              <a:spcBef>
                <a:spcPts val="1000"/>
              </a:spcBef>
              <a:spcAft>
                <a:spcPts val="0"/>
              </a:spcAft>
              <a:buSzPts val="1008"/>
              <a:buNone/>
            </a:pPr>
            <a:r>
              <a:t/>
            </a:r>
            <a:endParaRPr sz="1260"/>
          </a:p>
        </p:txBody>
      </p:sp>
    </p:spTree>
  </p:cSld>
  <p:clrMapOvr>
    <a:masterClrMapping/>
  </p:clrMapOvr>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